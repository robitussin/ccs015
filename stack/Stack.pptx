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sldIdLst>
    <p:sldId id="293" r:id="rId5"/>
    <p:sldId id="299" r:id="rId6"/>
    <p:sldId id="298" r:id="rId7"/>
    <p:sldId id="290" r:id="rId8"/>
    <p:sldId id="297" r:id="rId9"/>
    <p:sldId id="294" r:id="rId10"/>
    <p:sldId id="291" r:id="rId11"/>
    <p:sldId id="295" r:id="rId12"/>
    <p:sldId id="29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96" autoAdjust="0"/>
    <p:restoredTop sz="94131" autoAdjust="0"/>
  </p:normalViewPr>
  <p:slideViewPr>
    <p:cSldViewPr snapToGrid="0">
      <p:cViewPr varScale="1">
        <p:scale>
          <a:sx n="141" d="100"/>
          <a:sy n="141" d="100"/>
        </p:scale>
        <p:origin x="48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3540E-C587-62FB-B1EA-8C2FEC83C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D9458-BF1F-A0AA-E340-32AD01A19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DC58A-EAC5-375E-12AE-373892909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56AD9-4277-F2C9-D2D6-B8DB7FBDF8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83504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37F67-5F58-79FA-FD97-20BC1DE1A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1FB67-177E-102C-B5EE-5E08026B8F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FF9EE6-DD21-1AB2-C4F9-0D62678902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B05F9-285B-5351-AD33-D54D85A97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260453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38579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199C8-2291-FF5B-010A-F6C27AFF8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D1A3B-A8FF-E4AA-E15A-2B22EDA709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06508-E026-9CD2-7634-3FE036913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1AC77-4661-8B57-87D8-2E387FD77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14271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628357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03363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531705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Have you asked yourself the question, why do people organize?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Lets go to the psychology of organizing</a:t>
            </a:r>
          </a:p>
          <a:p>
            <a:endParaRPr lang="en-US" b="0" i="0" dirty="0">
              <a:solidFill>
                <a:srgbClr val="000000"/>
              </a:solidFill>
              <a:effectLst/>
              <a:latin typeface="Charter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Charter"/>
              </a:rPr>
              <a:t>This predictability applies within the context of our homes, manifesting through the concept of organization</a:t>
            </a:r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55097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12/05/2026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73765/t-shirt_yelow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118633/green-2-tshirt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73765/t-shirt_yelow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118633/green-2-tshirt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73765/t-shirt_yelow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118633/green-2-tshirt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118633/green-2-tshirt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73765/t-shirt_yelow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73765/t-shirt_yelow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118633/green-2-tshirt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73765/t-shirt_yelow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blue-t-shirt-vector-clip-art11657" TargetMode="External"/><Relationship Id="rId5" Type="http://schemas.openxmlformats.org/officeDocument/2006/relationships/image" Target="../media/image1.png"/><Relationship Id="rId10" Type="http://schemas.openxmlformats.org/officeDocument/2006/relationships/hyperlink" Target="https://openclipart.org/detail/118633/green-2-tshirt" TargetMode="External"/><Relationship Id="rId4" Type="http://schemas.openxmlformats.org/officeDocument/2006/relationships/hyperlink" Target="https://freesvg.org/red-t-shirt" TargetMode="External"/><Relationship Id="rId9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118633/green-2-tshirt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73765/t-shirt_yelow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118633/green-2-tshirt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73765/t-shirt_yelow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clipart.org/detail/118633/green-2-tshirt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reesvg.org/red-t-shirt" TargetMode="External"/><Relationship Id="rId5" Type="http://schemas.openxmlformats.org/officeDocument/2006/relationships/image" Target="../media/image2.png"/><Relationship Id="rId10" Type="http://schemas.openxmlformats.org/officeDocument/2006/relationships/hyperlink" Target="https://openclipart.org/detail/73765/t-shirt_yelow" TargetMode="External"/><Relationship Id="rId4" Type="http://schemas.openxmlformats.org/officeDocument/2006/relationships/hyperlink" Target="https://freesvg.org/blue-t-shirt-vector-clip-art11657" TargetMode="External"/><Relationship Id="rId9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7905217"/>
              </p:ext>
            </p:extLst>
          </p:nvPr>
        </p:nvGraphicFramePr>
        <p:xfrm>
          <a:off x="5021592" y="2278106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pic>
        <p:nvPicPr>
          <p:cNvPr id="19" name="Picture 18">
            <a:extLst>
              <a:ext uri="{FF2B5EF4-FFF2-40B4-BE49-F238E27FC236}">
                <a16:creationId xmlns:a16="http://schemas.microsoft.com/office/drawing/2014/main" id="{E69FB9D7-1D76-44ED-1581-92874D881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286139" y="4080301"/>
            <a:ext cx="545921" cy="545921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33FBCC3-4573-0F0F-8EC2-7D331720FD53}"/>
              </a:ext>
            </a:extLst>
          </p:cNvPr>
          <p:cNvSpPr txBox="1"/>
          <p:nvPr/>
        </p:nvSpPr>
        <p:spPr>
          <a:xfrm>
            <a:off x="5462282" y="4117982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271407" y="3481007"/>
            <a:ext cx="545921" cy="53918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7D901AC-4A5F-0473-6B23-69F7558EE895}"/>
              </a:ext>
            </a:extLst>
          </p:cNvPr>
          <p:cNvSpPr txBox="1"/>
          <p:nvPr/>
        </p:nvSpPr>
        <p:spPr>
          <a:xfrm>
            <a:off x="5462282" y="3530376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7271407" y="2874972"/>
            <a:ext cx="545921" cy="54592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CC4A1A5-8137-8664-3CCF-74C048507E63}"/>
              </a:ext>
            </a:extLst>
          </p:cNvPr>
          <p:cNvSpPr txBox="1"/>
          <p:nvPr/>
        </p:nvSpPr>
        <p:spPr>
          <a:xfrm>
            <a:off x="5333888" y="3000168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308773" y="2254942"/>
            <a:ext cx="500655" cy="545921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6E9802A0-DC44-241F-7C09-E15160BA19C1}"/>
              </a:ext>
            </a:extLst>
          </p:cNvPr>
          <p:cNvSpPr txBox="1"/>
          <p:nvPr/>
        </p:nvSpPr>
        <p:spPr>
          <a:xfrm>
            <a:off x="5344055" y="2405334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359A545-5E0C-E6E5-274C-D470E99B1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Stack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1121B2-8C34-C723-AA30-2A804B79DD2B}"/>
              </a:ext>
            </a:extLst>
          </p:cNvPr>
          <p:cNvSpPr txBox="1"/>
          <p:nvPr/>
        </p:nvSpPr>
        <p:spPr>
          <a:xfrm>
            <a:off x="609600" y="5372418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A </a:t>
            </a:r>
            <a:r>
              <a:rPr lang="en-US" sz="2500" b="1" dirty="0">
                <a:solidFill>
                  <a:schemeClr val="bg1"/>
                </a:solidFill>
              </a:rPr>
              <a:t>stack</a:t>
            </a:r>
            <a:r>
              <a:rPr lang="en-US" sz="2500" dirty="0">
                <a:solidFill>
                  <a:schemeClr val="bg1"/>
                </a:solidFill>
              </a:rPr>
              <a:t> is a linear data structure that follows the principle of </a:t>
            </a:r>
            <a:r>
              <a:rPr lang="en-US" sz="2500" b="1" dirty="0">
                <a:solidFill>
                  <a:schemeClr val="bg1"/>
                </a:solidFill>
              </a:rPr>
              <a:t>Last In First Out (LIFO)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A3B2D5-63C7-5D1D-E3DC-B3FC34231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D4827599-B196-0B41-D4A9-90EEC59DBB60}"/>
              </a:ext>
            </a:extLst>
          </p:cNvPr>
          <p:cNvGraphicFramePr>
            <a:graphicFrameLocks noGrp="1"/>
          </p:cNvGraphicFramePr>
          <p:nvPr/>
        </p:nvGraphicFramePr>
        <p:xfrm>
          <a:off x="5021592" y="2278106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pic>
        <p:nvPicPr>
          <p:cNvPr id="19" name="Picture 18">
            <a:extLst>
              <a:ext uri="{FF2B5EF4-FFF2-40B4-BE49-F238E27FC236}">
                <a16:creationId xmlns:a16="http://schemas.microsoft.com/office/drawing/2014/main" id="{6B5D80DF-A208-7ACB-167D-5FE7EC3A92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286139" y="4080301"/>
            <a:ext cx="545921" cy="545921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E0F3CE1-0825-FC9B-E69D-38482D61315B}"/>
              </a:ext>
            </a:extLst>
          </p:cNvPr>
          <p:cNvSpPr txBox="1"/>
          <p:nvPr/>
        </p:nvSpPr>
        <p:spPr>
          <a:xfrm>
            <a:off x="5462282" y="4117982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3142F74B-1AB6-9AE0-641D-E2B2E8B56B8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271407" y="3481007"/>
            <a:ext cx="545921" cy="53918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403A71F-2378-91E0-800D-7C1C1DA47264}"/>
              </a:ext>
            </a:extLst>
          </p:cNvPr>
          <p:cNvSpPr txBox="1"/>
          <p:nvPr/>
        </p:nvSpPr>
        <p:spPr>
          <a:xfrm>
            <a:off x="5462282" y="3530376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A3D0B298-7FAF-2C2D-644B-CAB0784A9A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7271407" y="2874972"/>
            <a:ext cx="545921" cy="54592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322BE4B-D94F-360C-7C87-2FE8F4242181}"/>
              </a:ext>
            </a:extLst>
          </p:cNvPr>
          <p:cNvSpPr txBox="1"/>
          <p:nvPr/>
        </p:nvSpPr>
        <p:spPr>
          <a:xfrm>
            <a:off x="5333888" y="3000168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9C913226-CC84-B580-843C-CECC1DAFA1C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308773" y="2254942"/>
            <a:ext cx="500655" cy="545921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CA526A93-CC91-B74C-07A3-6B77A7777CD6}"/>
              </a:ext>
            </a:extLst>
          </p:cNvPr>
          <p:cNvSpPr txBox="1"/>
          <p:nvPr/>
        </p:nvSpPr>
        <p:spPr>
          <a:xfrm>
            <a:off x="5344055" y="2405334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E7D0B2D-C147-FEEC-EC06-68ACBFB2F5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Push operation 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FFE47-2AF2-5D46-46DB-3D5FF673BF9F}"/>
              </a:ext>
            </a:extLst>
          </p:cNvPr>
          <p:cNvSpPr txBox="1"/>
          <p:nvPr/>
        </p:nvSpPr>
        <p:spPr>
          <a:xfrm>
            <a:off x="609600" y="5372418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Last In First Out (LIFO). </a:t>
            </a:r>
            <a:r>
              <a:rPr lang="en-PH" sz="2500" dirty="0">
                <a:solidFill>
                  <a:schemeClr val="bg1"/>
                </a:solidFill>
              </a:rPr>
              <a:t>The last element that is inserted (push) will be the first element that will be removed (pop)</a:t>
            </a:r>
          </a:p>
        </p:txBody>
      </p:sp>
    </p:spTree>
    <p:extLst>
      <p:ext uri="{BB962C8B-B14F-4D97-AF65-F5344CB8AC3E}">
        <p14:creationId xmlns:p14="http://schemas.microsoft.com/office/powerpoint/2010/main" val="2738361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7" grpId="0"/>
      <p:bldP spid="38" grpId="0"/>
      <p:bldP spid="4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4E3A8C-3D7B-E414-866B-74A374903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32C4-3CB9-A713-C61D-15990A5F2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Pop operation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EB4BD1-A253-AD6E-47CA-CDEB7621FF02}"/>
              </a:ext>
            </a:extLst>
          </p:cNvPr>
          <p:cNvSpPr txBox="1"/>
          <p:nvPr/>
        </p:nvSpPr>
        <p:spPr>
          <a:xfrm>
            <a:off x="609600" y="5372418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Last In First Out (LIFO). </a:t>
            </a:r>
            <a:r>
              <a:rPr lang="en-PH" sz="2500" dirty="0">
                <a:solidFill>
                  <a:schemeClr val="bg1"/>
                </a:solidFill>
              </a:rPr>
              <a:t>The last element that is inserted (push) will be the first element that will be removed (pop)</a:t>
            </a:r>
          </a:p>
        </p:txBody>
      </p:sp>
      <p:graphicFrame>
        <p:nvGraphicFramePr>
          <p:cNvPr id="8" name="Table 31">
            <a:extLst>
              <a:ext uri="{FF2B5EF4-FFF2-40B4-BE49-F238E27FC236}">
                <a16:creationId xmlns:a16="http://schemas.microsoft.com/office/drawing/2014/main" id="{9DD436CF-6927-A6F3-AF87-BBEE34985FC5}"/>
              </a:ext>
            </a:extLst>
          </p:cNvPr>
          <p:cNvGraphicFramePr>
            <a:graphicFrameLocks noGrp="1"/>
          </p:cNvGraphicFramePr>
          <p:nvPr/>
        </p:nvGraphicFramePr>
        <p:xfrm>
          <a:off x="5021592" y="2278106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1D74341B-7B28-D386-B516-D6E229DDEF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286139" y="4080301"/>
            <a:ext cx="545921" cy="54592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A1DACAC-C7DA-CC49-AEBB-D5F2A4FFBCD5}"/>
              </a:ext>
            </a:extLst>
          </p:cNvPr>
          <p:cNvSpPr txBox="1"/>
          <p:nvPr/>
        </p:nvSpPr>
        <p:spPr>
          <a:xfrm>
            <a:off x="5462282" y="4117982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pic>
        <p:nvPicPr>
          <p:cNvPr id="12" name="Picture 11" descr="A picture containing shirt&#10;&#10;Description automatically generated">
            <a:extLst>
              <a:ext uri="{FF2B5EF4-FFF2-40B4-BE49-F238E27FC236}">
                <a16:creationId xmlns:a16="http://schemas.microsoft.com/office/drawing/2014/main" id="{3C777A8D-BA9D-8DEA-2767-5571EF1F11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271407" y="3481007"/>
            <a:ext cx="545921" cy="53918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5881B8A-955A-1A76-9612-A5CA974275A0}"/>
              </a:ext>
            </a:extLst>
          </p:cNvPr>
          <p:cNvSpPr txBox="1"/>
          <p:nvPr/>
        </p:nvSpPr>
        <p:spPr>
          <a:xfrm>
            <a:off x="5462282" y="3530376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pic>
        <p:nvPicPr>
          <p:cNvPr id="14" name="Picture 13" descr="Diagram&#10;&#10;Description automatically generated with low confidence">
            <a:extLst>
              <a:ext uri="{FF2B5EF4-FFF2-40B4-BE49-F238E27FC236}">
                <a16:creationId xmlns:a16="http://schemas.microsoft.com/office/drawing/2014/main" id="{80277B7A-0C3E-C1BF-0D8F-13ABA4B19F2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7271407" y="2874972"/>
            <a:ext cx="545921" cy="54592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73D4026-F887-3E01-F50A-2467CCB4B490}"/>
              </a:ext>
            </a:extLst>
          </p:cNvPr>
          <p:cNvSpPr txBox="1"/>
          <p:nvPr/>
        </p:nvSpPr>
        <p:spPr>
          <a:xfrm>
            <a:off x="5333888" y="3000168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pic>
        <p:nvPicPr>
          <p:cNvPr id="16" name="Picture 15" descr="Diagram&#10;&#10;Description automatically generated">
            <a:extLst>
              <a:ext uri="{FF2B5EF4-FFF2-40B4-BE49-F238E27FC236}">
                <a16:creationId xmlns:a16="http://schemas.microsoft.com/office/drawing/2014/main" id="{250A8A6C-9722-0103-92F6-628F094251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308773" y="2254942"/>
            <a:ext cx="500655" cy="54592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F05E9DC-A767-0690-D2A5-F02CF58FC0D4}"/>
              </a:ext>
            </a:extLst>
          </p:cNvPr>
          <p:cNvSpPr txBox="1"/>
          <p:nvPr/>
        </p:nvSpPr>
        <p:spPr>
          <a:xfrm>
            <a:off x="5344055" y="2405334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</p:spTree>
    <p:extLst>
      <p:ext uri="{BB962C8B-B14F-4D97-AF65-F5344CB8AC3E}">
        <p14:creationId xmlns:p14="http://schemas.microsoft.com/office/powerpoint/2010/main" val="2204929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5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Autofit/>
          </a:bodyPr>
          <a:lstStyle/>
          <a:p>
            <a:r>
              <a:rPr lang="en-US" sz="5000" b="1" dirty="0">
                <a:solidFill>
                  <a:srgbClr val="00B050"/>
                </a:solidFill>
              </a:rPr>
              <a:t>Stack</a:t>
            </a:r>
            <a:r>
              <a:rPr lang="en-US" sz="5000" b="1" i="0" dirty="0">
                <a:solidFill>
                  <a:srgbClr val="00B050"/>
                </a:solidFill>
                <a:effectLst/>
              </a:rPr>
              <a:t> implementation using Arrays</a:t>
            </a:r>
            <a:endParaRPr lang="en-PH" sz="5000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9D1453-75F7-57B1-AD86-D3F46D5E27F8}"/>
              </a:ext>
            </a:extLst>
          </p:cNvPr>
          <p:cNvSpPr txBox="1"/>
          <p:nvPr/>
        </p:nvSpPr>
        <p:spPr>
          <a:xfrm>
            <a:off x="1063535" y="3694784"/>
            <a:ext cx="28207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Push Sequence:</a:t>
            </a:r>
          </a:p>
          <a:p>
            <a:endParaRPr lang="en-PH" b="1" dirty="0">
              <a:solidFill>
                <a:srgbClr val="00B050"/>
              </a:solidFill>
            </a:endParaRPr>
          </a:p>
          <a:p>
            <a:r>
              <a:rPr lang="en-PH" dirty="0">
                <a:solidFill>
                  <a:srgbClr val="00B050"/>
                </a:solidFill>
              </a:rPr>
              <a:t>Push (Blue Shirt)</a:t>
            </a:r>
          </a:p>
          <a:p>
            <a:r>
              <a:rPr lang="en-PH" dirty="0">
                <a:solidFill>
                  <a:srgbClr val="00B050"/>
                </a:solidFill>
              </a:rPr>
              <a:t>Push (Red Shirt)</a:t>
            </a:r>
          </a:p>
          <a:p>
            <a:r>
              <a:rPr lang="en-PH" dirty="0">
                <a:solidFill>
                  <a:srgbClr val="00B050"/>
                </a:solidFill>
              </a:rPr>
              <a:t>Push (Yellow Shirt)</a:t>
            </a:r>
          </a:p>
          <a:p>
            <a:r>
              <a:rPr lang="en-PH" dirty="0">
                <a:solidFill>
                  <a:srgbClr val="00B050"/>
                </a:solidFill>
              </a:rPr>
              <a:t>Push (Green Shirt)</a:t>
            </a:r>
          </a:p>
          <a:p>
            <a:endParaRPr lang="en-PH" dirty="0">
              <a:solidFill>
                <a:srgbClr val="00B050"/>
              </a:solidFill>
            </a:endParaRPr>
          </a:p>
          <a:p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DEF2D023-8AA3-C0A9-D29B-CBC2D2F1DB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3434553"/>
              </p:ext>
            </p:extLst>
          </p:nvPr>
        </p:nvGraphicFramePr>
        <p:xfrm>
          <a:off x="1118459" y="1914704"/>
          <a:ext cx="81280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3 </a:t>
                      </a:r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(TOP)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5899B351-6E86-EC67-EA63-63884EB78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48101" y="5335103"/>
            <a:ext cx="545921" cy="545921"/>
          </a:xfrm>
          <a:prstGeom prst="rect">
            <a:avLst/>
          </a:prstGeom>
        </p:spPr>
      </p:pic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49BDAF-05AD-202B-3586-980967612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37501" y="1317388"/>
            <a:ext cx="545921" cy="545921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6BE3D923-EBC4-EEEF-2D1F-D1409C2B1B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3920714" y="1296958"/>
            <a:ext cx="545921" cy="539180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F0AA8856-CBD9-9170-31D3-E789AC8FE0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5906580" y="1293587"/>
            <a:ext cx="545921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7FD09284-0307-0253-E160-5FB1B77DF8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7989793" y="1284480"/>
            <a:ext cx="500655" cy="545921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599358"/>
              </p:ext>
            </p:extLst>
          </p:nvPr>
        </p:nvGraphicFramePr>
        <p:xfrm>
          <a:off x="8225378" y="351323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1972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180699-D68D-4FC9-A52F-D835B621E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4C377-E0B3-8D00-4BFD-AD7A16D0B4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Push operation 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DAB817-626C-A90D-4CDD-CE80FCEA96AD}"/>
              </a:ext>
            </a:extLst>
          </p:cNvPr>
          <p:cNvSpPr txBox="1"/>
          <p:nvPr/>
        </p:nvSpPr>
        <p:spPr>
          <a:xfrm>
            <a:off x="1063535" y="3694784"/>
            <a:ext cx="1735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Push Sequence: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DA891B9-9EE1-2CC5-9481-63C82FC2ED28}"/>
              </a:ext>
            </a:extLst>
          </p:cNvPr>
          <p:cNvGraphicFramePr>
            <a:graphicFrameLocks noGrp="1"/>
          </p:cNvGraphicFramePr>
          <p:nvPr/>
        </p:nvGraphicFramePr>
        <p:xfrm>
          <a:off x="1098139" y="1934384"/>
          <a:ext cx="81280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>
                        <a:solidFill>
                          <a:srgbClr val="00B050"/>
                        </a:solidFill>
                      </a:endParaRPr>
                    </a:p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b="0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3 </a:t>
                      </a:r>
                      <a:endParaRPr lang="en-PH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27" name="Picture 26">
            <a:extLst>
              <a:ext uri="{FF2B5EF4-FFF2-40B4-BE49-F238E27FC236}">
                <a16:creationId xmlns:a16="http://schemas.microsoft.com/office/drawing/2014/main" id="{BA25A963-F25E-F526-CA33-973D0E6AFF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37501" y="1259205"/>
            <a:ext cx="545921" cy="545921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4B5AF023-0DCC-8542-9BDE-00B14EB6689F}"/>
              </a:ext>
            </a:extLst>
          </p:cNvPr>
          <p:cNvGraphicFramePr>
            <a:graphicFrameLocks noGrp="1"/>
          </p:cNvGraphicFramePr>
          <p:nvPr/>
        </p:nvGraphicFramePr>
        <p:xfrm>
          <a:off x="8205058" y="353291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pic>
        <p:nvPicPr>
          <p:cNvPr id="19" name="Picture 18">
            <a:extLst>
              <a:ext uri="{FF2B5EF4-FFF2-40B4-BE49-F238E27FC236}">
                <a16:creationId xmlns:a16="http://schemas.microsoft.com/office/drawing/2014/main" id="{DE7E1DB4-C6CD-0689-A6AE-BF00530C61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62832" y="5358269"/>
            <a:ext cx="545921" cy="5459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40D5F48-9A93-B4C8-B3D7-E308D7955071}"/>
              </a:ext>
            </a:extLst>
          </p:cNvPr>
          <p:cNvSpPr txBox="1"/>
          <p:nvPr/>
        </p:nvSpPr>
        <p:spPr>
          <a:xfrm>
            <a:off x="1532611" y="2070512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C652FD-7550-4BC5-1182-174D7CCE5EDF}"/>
              </a:ext>
            </a:extLst>
          </p:cNvPr>
          <p:cNvSpPr txBox="1"/>
          <p:nvPr/>
        </p:nvSpPr>
        <p:spPr>
          <a:xfrm>
            <a:off x="1063534" y="4070306"/>
            <a:ext cx="3217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(“Blue Shirt”)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2B7AB9-9B1D-09B2-F8E0-0CC32A676FDB}"/>
              </a:ext>
            </a:extLst>
          </p:cNvPr>
          <p:cNvSpPr txBox="1"/>
          <p:nvPr/>
        </p:nvSpPr>
        <p:spPr>
          <a:xfrm>
            <a:off x="8645748" y="5372786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E6A41C2-9FD5-CE84-9491-0F37DF167844}"/>
              </a:ext>
            </a:extLst>
          </p:cNvPr>
          <p:cNvSpPr txBox="1"/>
          <p:nvPr/>
        </p:nvSpPr>
        <p:spPr>
          <a:xfrm>
            <a:off x="1063533" y="4430443"/>
            <a:ext cx="3217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(“Red Shirt”)</a:t>
            </a:r>
          </a:p>
        </p:txBody>
      </p:sp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B8FDEF7F-77DE-30C0-5355-3B68330198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E0A8C6A8-CC77-8B06-B21D-26A70C4E83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3920714" y="1296958"/>
            <a:ext cx="545921" cy="5391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2E37D01-3DED-8E7D-02BA-64FF7E666094}"/>
              </a:ext>
            </a:extLst>
          </p:cNvPr>
          <p:cNvSpPr txBox="1"/>
          <p:nvPr/>
        </p:nvSpPr>
        <p:spPr>
          <a:xfrm>
            <a:off x="3615824" y="2056995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6C22AD1-AFA5-7ADA-D7F0-598555440466}"/>
              </a:ext>
            </a:extLst>
          </p:cNvPr>
          <p:cNvSpPr txBox="1"/>
          <p:nvPr/>
        </p:nvSpPr>
        <p:spPr>
          <a:xfrm>
            <a:off x="8645748" y="4785180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5F4DFF46-9948-AE1B-2528-02E9B95307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D3BAD059-F512-59F3-D571-2629A7D577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5906580" y="1293587"/>
            <a:ext cx="545921" cy="54592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616C6BF-28EF-A0DD-B52B-93E0DF5BA894}"/>
              </a:ext>
            </a:extLst>
          </p:cNvPr>
          <p:cNvSpPr txBox="1"/>
          <p:nvPr/>
        </p:nvSpPr>
        <p:spPr>
          <a:xfrm>
            <a:off x="5465209" y="2078988"/>
            <a:ext cx="142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B4D4E6-7A67-BDEA-EBDE-A05B90D6AA3F}"/>
              </a:ext>
            </a:extLst>
          </p:cNvPr>
          <p:cNvSpPr txBox="1"/>
          <p:nvPr/>
        </p:nvSpPr>
        <p:spPr>
          <a:xfrm>
            <a:off x="8517354" y="4254972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33F379-AEB8-B12B-E1E3-B7BC35FC854F}"/>
              </a:ext>
            </a:extLst>
          </p:cNvPr>
          <p:cNvSpPr txBox="1"/>
          <p:nvPr/>
        </p:nvSpPr>
        <p:spPr>
          <a:xfrm>
            <a:off x="1063531" y="4762915"/>
            <a:ext cx="3484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(“Yellow Shirt”)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16DC3C-2366-9EEB-6B73-424996AE17DC}"/>
              </a:ext>
            </a:extLst>
          </p:cNvPr>
          <p:cNvSpPr txBox="1"/>
          <p:nvPr/>
        </p:nvSpPr>
        <p:spPr>
          <a:xfrm>
            <a:off x="1046808" y="5096358"/>
            <a:ext cx="3484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(“Green Shirt”)</a:t>
            </a:r>
          </a:p>
        </p:txBody>
      </p:sp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A82E074-2BDB-D10E-80C4-6FB5F09C618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DEFFC802-2250-EAD8-C6E1-807E9515285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989793" y="1284480"/>
            <a:ext cx="500655" cy="54592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6AC248A-5924-C16B-F109-96EF84DF5F74}"/>
              </a:ext>
            </a:extLst>
          </p:cNvPr>
          <p:cNvSpPr txBox="1"/>
          <p:nvPr/>
        </p:nvSpPr>
        <p:spPr>
          <a:xfrm>
            <a:off x="7525789" y="2079613"/>
            <a:ext cx="142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9F4A0A-7BB4-8F0A-83BA-A043C9AB72C2}"/>
              </a:ext>
            </a:extLst>
          </p:cNvPr>
          <p:cNvSpPr txBox="1"/>
          <p:nvPr/>
        </p:nvSpPr>
        <p:spPr>
          <a:xfrm>
            <a:off x="8527521" y="3660138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84C5B9-A2F4-AD7E-025E-EE301E27E2C7}"/>
              </a:ext>
            </a:extLst>
          </p:cNvPr>
          <p:cNvSpPr txBox="1"/>
          <p:nvPr/>
        </p:nvSpPr>
        <p:spPr>
          <a:xfrm>
            <a:off x="8391377" y="2575972"/>
            <a:ext cx="738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FF0000"/>
                </a:solidFill>
              </a:rPr>
              <a:t>(TOP)</a:t>
            </a:r>
          </a:p>
        </p:txBody>
      </p:sp>
    </p:spTree>
    <p:extLst>
      <p:ext uri="{BB962C8B-B14F-4D97-AF65-F5344CB8AC3E}">
        <p14:creationId xmlns:p14="http://schemas.microsoft.com/office/powerpoint/2010/main" val="2527923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3" grpId="0"/>
      <p:bldP spid="35" grpId="0"/>
      <p:bldP spid="36" grpId="0"/>
      <p:bldP spid="23" grpId="0"/>
      <p:bldP spid="37" grpId="0"/>
      <p:bldP spid="32" grpId="0"/>
      <p:bldP spid="38" grpId="0"/>
      <p:bldP spid="39" grpId="0"/>
      <p:bldP spid="40" grpId="0"/>
      <p:bldP spid="25" grpId="0"/>
      <p:bldP spid="41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Pop operation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9D1453-75F7-57B1-AD86-D3F46D5E27F8}"/>
              </a:ext>
            </a:extLst>
          </p:cNvPr>
          <p:cNvSpPr txBox="1"/>
          <p:nvPr/>
        </p:nvSpPr>
        <p:spPr>
          <a:xfrm>
            <a:off x="1063535" y="3694784"/>
            <a:ext cx="1735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Pop Sequence: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DEF2D023-8AA3-C0A9-D29B-CBC2D2F1DB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99857"/>
              </p:ext>
            </p:extLst>
          </p:nvPr>
        </p:nvGraphicFramePr>
        <p:xfrm>
          <a:off x="1098139" y="1934384"/>
          <a:ext cx="81280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0249415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6811302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2508213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43850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PH" dirty="0"/>
                    </a:p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6662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3 </a:t>
                      </a:r>
                      <a:endParaRPr lang="en-PH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5519892"/>
                  </a:ext>
                </a:extLst>
              </a:tr>
            </a:tbl>
          </a:graphicData>
        </a:graphic>
      </p:graphicFrame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49BDAF-05AD-202B-3586-980967612D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837501" y="1259205"/>
            <a:ext cx="545921" cy="545921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6BE3D923-EBC4-EEEF-2D1F-D1409C2B1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920714" y="1296958"/>
            <a:ext cx="545921" cy="539180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998513"/>
              </p:ext>
            </p:extLst>
          </p:nvPr>
        </p:nvGraphicFramePr>
        <p:xfrm>
          <a:off x="8207599" y="353291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pic>
        <p:nvPicPr>
          <p:cNvPr id="19" name="Picture 18">
            <a:extLst>
              <a:ext uri="{FF2B5EF4-FFF2-40B4-BE49-F238E27FC236}">
                <a16:creationId xmlns:a16="http://schemas.microsoft.com/office/drawing/2014/main" id="{E69FB9D7-1D76-44ED-1581-92874D881B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62832" y="5358269"/>
            <a:ext cx="545921" cy="5459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5B6A71-EA6A-BC06-B4B3-36F0BED54F3E}"/>
              </a:ext>
            </a:extLst>
          </p:cNvPr>
          <p:cNvSpPr txBox="1"/>
          <p:nvPr/>
        </p:nvSpPr>
        <p:spPr>
          <a:xfrm>
            <a:off x="1532611" y="2070512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F115CEE-E235-4D4E-1E6C-C43EC955CAE5}"/>
              </a:ext>
            </a:extLst>
          </p:cNvPr>
          <p:cNvSpPr txBox="1"/>
          <p:nvPr/>
        </p:nvSpPr>
        <p:spPr>
          <a:xfrm>
            <a:off x="3615824" y="2056995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2FAA83-41FF-8CBF-2008-51F174926A89}"/>
              </a:ext>
            </a:extLst>
          </p:cNvPr>
          <p:cNvSpPr txBox="1"/>
          <p:nvPr/>
        </p:nvSpPr>
        <p:spPr>
          <a:xfrm>
            <a:off x="1063532" y="4070306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3FBCC3-4573-0F0F-8EC2-7D331720FD53}"/>
              </a:ext>
            </a:extLst>
          </p:cNvPr>
          <p:cNvSpPr txBox="1"/>
          <p:nvPr/>
        </p:nvSpPr>
        <p:spPr>
          <a:xfrm>
            <a:off x="8645748" y="5372786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E7C2D5-6966-A2FD-1142-E7157E3DEC01}"/>
              </a:ext>
            </a:extLst>
          </p:cNvPr>
          <p:cNvSpPr txBox="1"/>
          <p:nvPr/>
        </p:nvSpPr>
        <p:spPr>
          <a:xfrm>
            <a:off x="1063533" y="4430443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D901AC-4A5F-0473-6B23-69F7558EE895}"/>
              </a:ext>
            </a:extLst>
          </p:cNvPr>
          <p:cNvSpPr txBox="1"/>
          <p:nvPr/>
        </p:nvSpPr>
        <p:spPr>
          <a:xfrm>
            <a:off x="8645748" y="4785180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F0AA8856-CBD9-9170-31D3-E789AC8FE0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5906580" y="1293587"/>
            <a:ext cx="545921" cy="54592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08FE999-4863-F223-3AA6-127C41BDAB52}"/>
              </a:ext>
            </a:extLst>
          </p:cNvPr>
          <p:cNvSpPr txBox="1"/>
          <p:nvPr/>
        </p:nvSpPr>
        <p:spPr>
          <a:xfrm>
            <a:off x="5465209" y="2078988"/>
            <a:ext cx="142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CC4A1A5-8137-8664-3CCF-74C048507E63}"/>
              </a:ext>
            </a:extLst>
          </p:cNvPr>
          <p:cNvSpPr txBox="1"/>
          <p:nvPr/>
        </p:nvSpPr>
        <p:spPr>
          <a:xfrm>
            <a:off x="8517354" y="4254972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7FD09284-0307-0253-E160-5FB1B77DF8F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7989793" y="1284480"/>
            <a:ext cx="500655" cy="54592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E294A7E-9AD2-6237-23A3-9D3897029C4C}"/>
              </a:ext>
            </a:extLst>
          </p:cNvPr>
          <p:cNvSpPr txBox="1"/>
          <p:nvPr/>
        </p:nvSpPr>
        <p:spPr>
          <a:xfrm>
            <a:off x="7525789" y="2079613"/>
            <a:ext cx="142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9802A0-DC44-241F-7C09-E15160BA19C1}"/>
              </a:ext>
            </a:extLst>
          </p:cNvPr>
          <p:cNvSpPr txBox="1"/>
          <p:nvPr/>
        </p:nvSpPr>
        <p:spPr>
          <a:xfrm>
            <a:off x="8527521" y="3660138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9EB5EE-6512-C70B-9987-26B1089E53BA}"/>
              </a:ext>
            </a:extLst>
          </p:cNvPr>
          <p:cNvSpPr txBox="1"/>
          <p:nvPr/>
        </p:nvSpPr>
        <p:spPr>
          <a:xfrm>
            <a:off x="1063532" y="4794906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235C377-6815-04DD-43AC-53BB27293B09}"/>
              </a:ext>
            </a:extLst>
          </p:cNvPr>
          <p:cNvSpPr txBox="1"/>
          <p:nvPr/>
        </p:nvSpPr>
        <p:spPr>
          <a:xfrm>
            <a:off x="1063532" y="5151337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5911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/>
      <p:bldP spid="33" grpId="0"/>
      <p:bldP spid="35" grpId="0"/>
      <p:bldP spid="36" grpId="0"/>
      <p:bldP spid="37" grpId="0"/>
      <p:bldP spid="32" grpId="0"/>
      <p:bldP spid="38" grpId="0"/>
      <p:bldP spid="25" grpId="0"/>
      <p:bldP spid="41" grpId="0"/>
      <p:bldP spid="34" grpId="0"/>
      <p:bldP spid="4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Autofit/>
          </a:bodyPr>
          <a:lstStyle/>
          <a:p>
            <a:r>
              <a:rPr lang="en-US" sz="4000" b="1" i="0" dirty="0">
                <a:solidFill>
                  <a:srgbClr val="00B050"/>
                </a:solidFill>
                <a:effectLst/>
              </a:rPr>
              <a:t>Stack Implementation usin</a:t>
            </a:r>
            <a:r>
              <a:rPr lang="en-US" sz="4000" b="1" dirty="0">
                <a:solidFill>
                  <a:srgbClr val="00B050"/>
                </a:solidFill>
              </a:rPr>
              <a:t>g Linked Lists</a:t>
            </a:r>
            <a:endParaRPr lang="en-PH" sz="4000" dirty="0">
              <a:solidFill>
                <a:srgbClr val="00B05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99B351-6E86-EC67-EA63-63884EB78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48101" y="5335103"/>
            <a:ext cx="545921" cy="545921"/>
          </a:xfrm>
          <a:prstGeom prst="rect">
            <a:avLst/>
          </a:prstGeom>
        </p:spPr>
      </p:pic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49BDAF-05AD-202B-3586-980967612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972999" y="1474124"/>
            <a:ext cx="545921" cy="545921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6BE3D923-EBC4-EEEF-2D1F-D1409C2B1B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912419" y="1474124"/>
            <a:ext cx="545921" cy="539180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F0AA8856-CBD9-9170-31D3-E789AC8FE0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4926553" y="1415040"/>
            <a:ext cx="545921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7FD09284-0307-0253-E160-5FB1B77DF8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2865973" y="1415041"/>
            <a:ext cx="500655" cy="545921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069660"/>
              </p:ext>
            </p:extLst>
          </p:nvPr>
        </p:nvGraphicFramePr>
        <p:xfrm>
          <a:off x="8205058" y="353291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A84C66C8-AEF7-9E65-D809-9BBBD74325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1454079"/>
              </p:ext>
            </p:extLst>
          </p:nvPr>
        </p:nvGraphicFramePr>
        <p:xfrm>
          <a:off x="2346541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2" name="Table 4">
            <a:extLst>
              <a:ext uri="{FF2B5EF4-FFF2-40B4-BE49-F238E27FC236}">
                <a16:creationId xmlns:a16="http://schemas.microsoft.com/office/drawing/2014/main" id="{0FB7467F-E8AC-0896-84EB-FD09BEB7B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791937"/>
              </p:ext>
            </p:extLst>
          </p:nvPr>
        </p:nvGraphicFramePr>
        <p:xfrm>
          <a:off x="4429754" y="2141279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3" name="Table 4">
            <a:extLst>
              <a:ext uri="{FF2B5EF4-FFF2-40B4-BE49-F238E27FC236}">
                <a16:creationId xmlns:a16="http://schemas.microsoft.com/office/drawing/2014/main" id="{E9FF371B-159F-2D24-F33E-A5B5CB62C6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599287"/>
              </p:ext>
            </p:extLst>
          </p:nvPr>
        </p:nvGraphicFramePr>
        <p:xfrm>
          <a:off x="6415620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5" name="Table 4">
            <a:extLst>
              <a:ext uri="{FF2B5EF4-FFF2-40B4-BE49-F238E27FC236}">
                <a16:creationId xmlns:a16="http://schemas.microsoft.com/office/drawing/2014/main" id="{64EBD3FC-E85D-C692-E73B-B50C2A8668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869824"/>
              </p:ext>
            </p:extLst>
          </p:nvPr>
        </p:nvGraphicFramePr>
        <p:xfrm>
          <a:off x="8476200" y="214930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71AE15-D087-8D14-DE62-F704602A8104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3886061" y="2415599"/>
            <a:ext cx="543693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838C8F8-56D6-9C89-F199-F93CC33765C4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5969274" y="2415599"/>
            <a:ext cx="446346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DBCC66C-24B5-8A49-5CBF-3289A8C76E8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7955140" y="2422814"/>
            <a:ext cx="521060" cy="81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35" name="Table 35">
            <a:extLst>
              <a:ext uri="{FF2B5EF4-FFF2-40B4-BE49-F238E27FC236}">
                <a16:creationId xmlns:a16="http://schemas.microsoft.com/office/drawing/2014/main" id="{E696C597-D1E2-D468-B594-E8D123A5B4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8909289"/>
              </p:ext>
            </p:extLst>
          </p:nvPr>
        </p:nvGraphicFramePr>
        <p:xfrm>
          <a:off x="2346541" y="285729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Top (Head)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61F1F83F-5E0B-17CF-0AEB-60BE412425A3}"/>
              </a:ext>
            </a:extLst>
          </p:cNvPr>
          <p:cNvSpPr txBox="1"/>
          <p:nvPr/>
        </p:nvSpPr>
        <p:spPr>
          <a:xfrm>
            <a:off x="1063535" y="3694784"/>
            <a:ext cx="1735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Push Sequence: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94643E-F091-92E2-5D97-EC3D9C09FD0D}"/>
              </a:ext>
            </a:extLst>
          </p:cNvPr>
          <p:cNvSpPr txBox="1"/>
          <p:nvPr/>
        </p:nvSpPr>
        <p:spPr>
          <a:xfrm>
            <a:off x="1063534" y="4070306"/>
            <a:ext cx="33113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(“Blue Shirt”)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D3AAC9-91D4-A31B-EF97-E1382A8F35A2}"/>
              </a:ext>
            </a:extLst>
          </p:cNvPr>
          <p:cNvSpPr txBox="1"/>
          <p:nvPr/>
        </p:nvSpPr>
        <p:spPr>
          <a:xfrm>
            <a:off x="1063533" y="4430443"/>
            <a:ext cx="33113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(“Red Shirt”)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9C662D0-FF48-CAA7-9F58-0605F5409A28}"/>
              </a:ext>
            </a:extLst>
          </p:cNvPr>
          <p:cNvSpPr txBox="1"/>
          <p:nvPr/>
        </p:nvSpPr>
        <p:spPr>
          <a:xfrm>
            <a:off x="1063531" y="4762915"/>
            <a:ext cx="3586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(“Yellow Shirt”)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B3D0A2-5011-471F-DE56-064279E34C3D}"/>
              </a:ext>
            </a:extLst>
          </p:cNvPr>
          <p:cNvSpPr txBox="1"/>
          <p:nvPr/>
        </p:nvSpPr>
        <p:spPr>
          <a:xfrm>
            <a:off x="1046808" y="5096358"/>
            <a:ext cx="3586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(“Green Shirt”)</a:t>
            </a:r>
          </a:p>
        </p:txBody>
      </p:sp>
    </p:spTree>
    <p:extLst>
      <p:ext uri="{BB962C8B-B14F-4D97-AF65-F5344CB8AC3E}">
        <p14:creationId xmlns:p14="http://schemas.microsoft.com/office/powerpoint/2010/main" val="398479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Push operation </a:t>
            </a:r>
            <a:endParaRPr lang="en-PH" dirty="0">
              <a:solidFill>
                <a:srgbClr val="00B05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99B351-6E86-EC67-EA63-63884EB78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48101" y="5335103"/>
            <a:ext cx="545921" cy="545921"/>
          </a:xfrm>
          <a:prstGeom prst="rect">
            <a:avLst/>
          </a:prstGeom>
        </p:spPr>
      </p:pic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49BDAF-05AD-202B-3586-980967612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972999" y="1474124"/>
            <a:ext cx="545921" cy="545921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6BE3D923-EBC4-EEEF-2D1F-D1409C2B1B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912419" y="1474124"/>
            <a:ext cx="545921" cy="539180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F0AA8856-CBD9-9170-31D3-E789AC8FE0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4926553" y="1415040"/>
            <a:ext cx="545921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7FD09284-0307-0253-E160-5FB1B77DF8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2865973" y="1415041"/>
            <a:ext cx="500655" cy="545921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418779"/>
              </p:ext>
            </p:extLst>
          </p:nvPr>
        </p:nvGraphicFramePr>
        <p:xfrm>
          <a:off x="8205058" y="353291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A84C66C8-AEF7-9E65-D809-9BBBD74325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410869"/>
              </p:ext>
            </p:extLst>
          </p:nvPr>
        </p:nvGraphicFramePr>
        <p:xfrm>
          <a:off x="2346541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2" name="Table 4">
            <a:extLst>
              <a:ext uri="{FF2B5EF4-FFF2-40B4-BE49-F238E27FC236}">
                <a16:creationId xmlns:a16="http://schemas.microsoft.com/office/drawing/2014/main" id="{0FB7467F-E8AC-0896-84EB-FD09BEB7B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015273"/>
              </p:ext>
            </p:extLst>
          </p:nvPr>
        </p:nvGraphicFramePr>
        <p:xfrm>
          <a:off x="4429754" y="2141279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3" name="Table 4">
            <a:extLst>
              <a:ext uri="{FF2B5EF4-FFF2-40B4-BE49-F238E27FC236}">
                <a16:creationId xmlns:a16="http://schemas.microsoft.com/office/drawing/2014/main" id="{E9FF371B-159F-2D24-F33E-A5B5CB62C6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48299"/>
              </p:ext>
            </p:extLst>
          </p:nvPr>
        </p:nvGraphicFramePr>
        <p:xfrm>
          <a:off x="6415620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5" name="Table 4">
            <a:extLst>
              <a:ext uri="{FF2B5EF4-FFF2-40B4-BE49-F238E27FC236}">
                <a16:creationId xmlns:a16="http://schemas.microsoft.com/office/drawing/2014/main" id="{64EBD3FC-E85D-C692-E73B-B50C2A8668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234404"/>
              </p:ext>
            </p:extLst>
          </p:nvPr>
        </p:nvGraphicFramePr>
        <p:xfrm>
          <a:off x="8476200" y="214930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71AE15-D087-8D14-DE62-F704602A8104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3886061" y="2415599"/>
            <a:ext cx="543693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838C8F8-56D6-9C89-F199-F93CC33765C4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5969274" y="2415599"/>
            <a:ext cx="446346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DBCC66C-24B5-8A49-5CBF-3289A8C76E8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7955140" y="2422814"/>
            <a:ext cx="521060" cy="81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35" name="Table 35">
            <a:extLst>
              <a:ext uri="{FF2B5EF4-FFF2-40B4-BE49-F238E27FC236}">
                <a16:creationId xmlns:a16="http://schemas.microsoft.com/office/drawing/2014/main" id="{E696C597-D1E2-D468-B594-E8D123A5B4D4}"/>
              </a:ext>
            </a:extLst>
          </p:cNvPr>
          <p:cNvGraphicFramePr>
            <a:graphicFrameLocks noGrp="1"/>
          </p:cNvGraphicFramePr>
          <p:nvPr/>
        </p:nvGraphicFramePr>
        <p:xfrm>
          <a:off x="2346541" y="2857298"/>
          <a:ext cx="1537712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37712">
                  <a:extLst>
                    <a:ext uri="{9D8B030D-6E8A-4147-A177-3AD203B41FA5}">
                      <a16:colId xmlns:a16="http://schemas.microsoft.com/office/drawing/2014/main" val="1910134363"/>
                    </a:ext>
                  </a:extLst>
                </a:gridCol>
              </a:tblGrid>
              <a:tr h="293550">
                <a:tc>
                  <a:txBody>
                    <a:bodyPr/>
                    <a:lstStyle/>
                    <a:p>
                      <a:pPr algn="ctr"/>
                      <a:r>
                        <a:rPr lang="en-PH" b="1" dirty="0">
                          <a:solidFill>
                            <a:srgbClr val="FF0000"/>
                          </a:solidFill>
                        </a:rPr>
                        <a:t>Head (Top)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14257339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DB2B71EA-984A-0173-F1AB-6F139204170B}"/>
              </a:ext>
            </a:extLst>
          </p:cNvPr>
          <p:cNvSpPr txBox="1"/>
          <p:nvPr/>
        </p:nvSpPr>
        <p:spPr>
          <a:xfrm>
            <a:off x="1063535" y="3694784"/>
            <a:ext cx="1735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Push Sequence: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706EAB-B0AF-1292-98C4-6097DA53B5DB}"/>
              </a:ext>
            </a:extLst>
          </p:cNvPr>
          <p:cNvSpPr txBox="1"/>
          <p:nvPr/>
        </p:nvSpPr>
        <p:spPr>
          <a:xfrm>
            <a:off x="1063534" y="4070306"/>
            <a:ext cx="3305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(“Blue Shirt”)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9196EF-572E-0204-BF5F-0EC956A29307}"/>
              </a:ext>
            </a:extLst>
          </p:cNvPr>
          <p:cNvSpPr txBox="1"/>
          <p:nvPr/>
        </p:nvSpPr>
        <p:spPr>
          <a:xfrm>
            <a:off x="1063533" y="4430443"/>
            <a:ext cx="3305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(“Red Shirt”)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E1D50B-4427-CEA8-F6A0-7B5A91CC81CB}"/>
              </a:ext>
            </a:extLst>
          </p:cNvPr>
          <p:cNvSpPr txBox="1"/>
          <p:nvPr/>
        </p:nvSpPr>
        <p:spPr>
          <a:xfrm>
            <a:off x="1063532" y="4762915"/>
            <a:ext cx="3579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(“Yellow Shirt”)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C6D9B14-54A7-1146-FE96-DBB28169AC0E}"/>
              </a:ext>
            </a:extLst>
          </p:cNvPr>
          <p:cNvSpPr txBox="1"/>
          <p:nvPr/>
        </p:nvSpPr>
        <p:spPr>
          <a:xfrm>
            <a:off x="1046809" y="5096358"/>
            <a:ext cx="3579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stack.push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(“Green Shirt”)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34F9C7-5E37-D908-8E3D-FE474A6AF8C4}"/>
              </a:ext>
            </a:extLst>
          </p:cNvPr>
          <p:cNvSpPr txBox="1"/>
          <p:nvPr/>
        </p:nvSpPr>
        <p:spPr>
          <a:xfrm>
            <a:off x="8527521" y="3660138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CC363A-EDFB-09A1-D35C-BFD5464DD8B3}"/>
              </a:ext>
            </a:extLst>
          </p:cNvPr>
          <p:cNvSpPr txBox="1"/>
          <p:nvPr/>
        </p:nvSpPr>
        <p:spPr>
          <a:xfrm>
            <a:off x="8517354" y="4254972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EBFB3C-FC6A-99E9-5C52-7C3B2A4A98F4}"/>
              </a:ext>
            </a:extLst>
          </p:cNvPr>
          <p:cNvSpPr txBox="1"/>
          <p:nvPr/>
        </p:nvSpPr>
        <p:spPr>
          <a:xfrm>
            <a:off x="8645748" y="4785180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DD7966-208F-BD20-956B-832E00FB0F74}"/>
              </a:ext>
            </a:extLst>
          </p:cNvPr>
          <p:cNvSpPr txBox="1"/>
          <p:nvPr/>
        </p:nvSpPr>
        <p:spPr>
          <a:xfrm>
            <a:off x="8645748" y="5372786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</p:spTree>
    <p:extLst>
      <p:ext uri="{BB962C8B-B14F-4D97-AF65-F5344CB8AC3E}">
        <p14:creationId xmlns:p14="http://schemas.microsoft.com/office/powerpoint/2010/main" val="279447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37" grpId="0"/>
      <p:bldP spid="38" grpId="0"/>
      <p:bldP spid="39" grpId="0"/>
      <p:bldP spid="45" grpId="0"/>
      <p:bldP spid="47" grpId="0"/>
      <p:bldP spid="48" grpId="0"/>
      <p:bldP spid="4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Pop operation </a:t>
            </a:r>
            <a:endParaRPr lang="en-PH" dirty="0">
              <a:solidFill>
                <a:srgbClr val="00B05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99B351-6E86-EC67-EA63-63884EB78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0448101" y="5335103"/>
            <a:ext cx="545921" cy="545921"/>
          </a:xfrm>
          <a:prstGeom prst="rect">
            <a:avLst/>
          </a:prstGeom>
        </p:spPr>
      </p:pic>
      <p:pic>
        <p:nvPicPr>
          <p:cNvPr id="17" name="Picture 16" descr="A picture containing shirt&#10;&#10;Description automatically generated">
            <a:extLst>
              <a:ext uri="{FF2B5EF4-FFF2-40B4-BE49-F238E27FC236}">
                <a16:creationId xmlns:a16="http://schemas.microsoft.com/office/drawing/2014/main" id="{CBC0D990-F61C-886D-0174-0C9734DFFE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0448100" y="4758975"/>
            <a:ext cx="545921" cy="539180"/>
          </a:xfrm>
          <a:prstGeom prst="rect">
            <a:avLst/>
          </a:prstGeom>
        </p:spPr>
      </p:pic>
      <p:pic>
        <p:nvPicPr>
          <p:cNvPr id="24" name="Picture 23" descr="Diagram&#10;&#10;Description automatically generated">
            <a:extLst>
              <a:ext uri="{FF2B5EF4-FFF2-40B4-BE49-F238E27FC236}">
                <a16:creationId xmlns:a16="http://schemas.microsoft.com/office/drawing/2014/main" id="{E7805405-62A9-D8B6-F101-E4F92391F4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10485466" y="3532910"/>
            <a:ext cx="500655" cy="545921"/>
          </a:xfrm>
          <a:prstGeom prst="rect">
            <a:avLst/>
          </a:prstGeom>
        </p:spPr>
      </p:pic>
      <p:pic>
        <p:nvPicPr>
          <p:cNvPr id="26" name="Picture 25" descr="Diagram&#10;&#10;Description automatically generated with low confidence">
            <a:extLst>
              <a:ext uri="{FF2B5EF4-FFF2-40B4-BE49-F238E27FC236}">
                <a16:creationId xmlns:a16="http://schemas.microsoft.com/office/drawing/2014/main" id="{224C7777-5A04-AE76-6E42-09F1556BA9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10448100" y="4152940"/>
            <a:ext cx="545921" cy="54592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749BDAF-05AD-202B-3586-980967612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972999" y="1474124"/>
            <a:ext cx="545921" cy="545921"/>
          </a:xfrm>
          <a:prstGeom prst="rect">
            <a:avLst/>
          </a:prstGeom>
        </p:spPr>
      </p:pic>
      <p:pic>
        <p:nvPicPr>
          <p:cNvPr id="28" name="Picture 27" descr="A picture containing shirt&#10;&#10;Description automatically generated">
            <a:extLst>
              <a:ext uri="{FF2B5EF4-FFF2-40B4-BE49-F238E27FC236}">
                <a16:creationId xmlns:a16="http://schemas.microsoft.com/office/drawing/2014/main" id="{6BE3D923-EBC4-EEEF-2D1F-D1409C2B1B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912419" y="1474124"/>
            <a:ext cx="545921" cy="539180"/>
          </a:xfrm>
          <a:prstGeom prst="rect">
            <a:avLst/>
          </a:prstGeom>
        </p:spPr>
      </p:pic>
      <p:pic>
        <p:nvPicPr>
          <p:cNvPr id="29" name="Picture 28" descr="Diagram&#10;&#10;Description automatically generated with low confidence">
            <a:extLst>
              <a:ext uri="{FF2B5EF4-FFF2-40B4-BE49-F238E27FC236}">
                <a16:creationId xmlns:a16="http://schemas.microsoft.com/office/drawing/2014/main" id="{F0AA8856-CBD9-9170-31D3-E789AC8FE0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>
            <a:off x="4926553" y="1415040"/>
            <a:ext cx="545921" cy="545921"/>
          </a:xfrm>
          <a:prstGeom prst="rect">
            <a:avLst/>
          </a:prstGeom>
        </p:spPr>
      </p:pic>
      <p:pic>
        <p:nvPicPr>
          <p:cNvPr id="30" name="Picture 29" descr="Diagram&#10;&#10;Description automatically generated">
            <a:extLst>
              <a:ext uri="{FF2B5EF4-FFF2-40B4-BE49-F238E27FC236}">
                <a16:creationId xmlns:a16="http://schemas.microsoft.com/office/drawing/2014/main" id="{7FD09284-0307-0253-E160-5FB1B77DF8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2865973" y="1415041"/>
            <a:ext cx="500655" cy="545921"/>
          </a:xfrm>
          <a:prstGeom prst="rect">
            <a:avLst/>
          </a:prstGeom>
        </p:spPr>
      </p:pic>
      <p:graphicFrame>
        <p:nvGraphicFramePr>
          <p:cNvPr id="31" name="Table 31">
            <a:extLst>
              <a:ext uri="{FF2B5EF4-FFF2-40B4-BE49-F238E27FC236}">
                <a16:creationId xmlns:a16="http://schemas.microsoft.com/office/drawing/2014/main" id="{3EDA3525-D1AC-4B39-4628-DE727256D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93459"/>
              </p:ext>
            </p:extLst>
          </p:nvPr>
        </p:nvGraphicFramePr>
        <p:xfrm>
          <a:off x="8205058" y="3532910"/>
          <a:ext cx="2037080" cy="23481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7080">
                  <a:extLst>
                    <a:ext uri="{9D8B030D-6E8A-4147-A177-3AD203B41FA5}">
                      <a16:colId xmlns:a16="http://schemas.microsoft.com/office/drawing/2014/main" val="1867406527"/>
                    </a:ext>
                  </a:extLst>
                </a:gridCol>
              </a:tblGrid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862470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772172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62954"/>
                  </a:ext>
                </a:extLst>
              </a:tr>
              <a:tr h="587029">
                <a:tc>
                  <a:txBody>
                    <a:bodyPr/>
                    <a:lstStyle/>
                    <a:p>
                      <a:pPr algn="ctr"/>
                      <a:endParaRPr lang="en-PH" dirty="0"/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6599522"/>
                  </a:ext>
                </a:extLst>
              </a:tr>
            </a:tbl>
          </a:graphicData>
        </a:graphic>
      </p:graphicFrame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A84C66C8-AEF7-9E65-D809-9BBBD74325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912808"/>
              </p:ext>
            </p:extLst>
          </p:nvPr>
        </p:nvGraphicFramePr>
        <p:xfrm>
          <a:off x="2346541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Green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2" name="Table 4">
            <a:extLst>
              <a:ext uri="{FF2B5EF4-FFF2-40B4-BE49-F238E27FC236}">
                <a16:creationId xmlns:a16="http://schemas.microsoft.com/office/drawing/2014/main" id="{0FB7467F-E8AC-0896-84EB-FD09BEB7B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2101926"/>
              </p:ext>
            </p:extLst>
          </p:nvPr>
        </p:nvGraphicFramePr>
        <p:xfrm>
          <a:off x="4429754" y="2141279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Yellow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3" name="Table 4">
            <a:extLst>
              <a:ext uri="{FF2B5EF4-FFF2-40B4-BE49-F238E27FC236}">
                <a16:creationId xmlns:a16="http://schemas.microsoft.com/office/drawing/2014/main" id="{E9FF371B-159F-2D24-F33E-A5B5CB62C6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870702"/>
              </p:ext>
            </p:extLst>
          </p:nvPr>
        </p:nvGraphicFramePr>
        <p:xfrm>
          <a:off x="6415620" y="214849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Red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graphicFrame>
        <p:nvGraphicFramePr>
          <p:cNvPr id="25" name="Table 4">
            <a:extLst>
              <a:ext uri="{FF2B5EF4-FFF2-40B4-BE49-F238E27FC236}">
                <a16:creationId xmlns:a16="http://schemas.microsoft.com/office/drawing/2014/main" id="{64EBD3FC-E85D-C692-E73B-B50C2A8668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441471"/>
              </p:ext>
            </p:extLst>
          </p:nvPr>
        </p:nvGraphicFramePr>
        <p:xfrm>
          <a:off x="8476200" y="2149304"/>
          <a:ext cx="1539520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9760">
                  <a:extLst>
                    <a:ext uri="{9D8B030D-6E8A-4147-A177-3AD203B41FA5}">
                      <a16:colId xmlns:a16="http://schemas.microsoft.com/office/drawing/2014/main" val="801851880"/>
                    </a:ext>
                  </a:extLst>
                </a:gridCol>
                <a:gridCol w="769760">
                  <a:extLst>
                    <a:ext uri="{9D8B030D-6E8A-4147-A177-3AD203B41FA5}">
                      <a16:colId xmlns:a16="http://schemas.microsoft.com/office/drawing/2014/main" val="2556904316"/>
                    </a:ext>
                  </a:extLst>
                </a:gridCol>
              </a:tblGrid>
              <a:tr h="217459">
                <a:tc>
                  <a:txBody>
                    <a:bodyPr/>
                    <a:lstStyle/>
                    <a:p>
                      <a:r>
                        <a:rPr lang="en-PH" sz="1500" dirty="0">
                          <a:solidFill>
                            <a:srgbClr val="00B050"/>
                          </a:solidFill>
                        </a:rPr>
                        <a:t>Blue Shirt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2822919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71AE15-D087-8D14-DE62-F704602A8104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3886061" y="2415599"/>
            <a:ext cx="543693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838C8F8-56D6-9C89-F199-F93CC33765C4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5969274" y="2415599"/>
            <a:ext cx="446346" cy="721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DBCC66C-24B5-8A49-5CBF-3289A8C76E8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7955140" y="2422814"/>
            <a:ext cx="521060" cy="81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034F9C7-5E37-D908-8E3D-FE474A6AF8C4}"/>
              </a:ext>
            </a:extLst>
          </p:cNvPr>
          <p:cNvSpPr txBox="1"/>
          <p:nvPr/>
        </p:nvSpPr>
        <p:spPr>
          <a:xfrm>
            <a:off x="8527521" y="3660138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Green Shirt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CC363A-EDFB-09A1-D35C-BFD5464DD8B3}"/>
              </a:ext>
            </a:extLst>
          </p:cNvPr>
          <p:cNvSpPr txBox="1"/>
          <p:nvPr/>
        </p:nvSpPr>
        <p:spPr>
          <a:xfrm>
            <a:off x="8517354" y="4254972"/>
            <a:ext cx="1417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Yellow Shirt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EBFB3C-FC6A-99E9-5C52-7C3B2A4A98F4}"/>
              </a:ext>
            </a:extLst>
          </p:cNvPr>
          <p:cNvSpPr txBox="1"/>
          <p:nvPr/>
        </p:nvSpPr>
        <p:spPr>
          <a:xfrm>
            <a:off x="8645748" y="4785180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Red Shirt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DD7966-208F-BD20-956B-832E00FB0F74}"/>
              </a:ext>
            </a:extLst>
          </p:cNvPr>
          <p:cNvSpPr txBox="1"/>
          <p:nvPr/>
        </p:nvSpPr>
        <p:spPr>
          <a:xfrm>
            <a:off x="8645748" y="5372786"/>
            <a:ext cx="115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Blue Shirt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9AC9BE-6674-2945-3299-93BAB6E78ADF}"/>
              </a:ext>
            </a:extLst>
          </p:cNvPr>
          <p:cNvSpPr txBox="1"/>
          <p:nvPr/>
        </p:nvSpPr>
        <p:spPr>
          <a:xfrm>
            <a:off x="1063535" y="3694784"/>
            <a:ext cx="1735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>
                <a:solidFill>
                  <a:srgbClr val="00B050"/>
                </a:solidFill>
              </a:rPr>
              <a:t>Pop Sequence: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37E351-4036-A395-C858-CACAEDBDD772}"/>
              </a:ext>
            </a:extLst>
          </p:cNvPr>
          <p:cNvSpPr txBox="1"/>
          <p:nvPr/>
        </p:nvSpPr>
        <p:spPr>
          <a:xfrm>
            <a:off x="1063532" y="4070306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FDA5C1-1A72-E63A-6AEF-1CE9C596DE65}"/>
              </a:ext>
            </a:extLst>
          </p:cNvPr>
          <p:cNvSpPr txBox="1"/>
          <p:nvPr/>
        </p:nvSpPr>
        <p:spPr>
          <a:xfrm>
            <a:off x="1063533" y="4430443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41BB8E-2D80-CD09-AD4C-E4517CD1B97A}"/>
              </a:ext>
            </a:extLst>
          </p:cNvPr>
          <p:cNvSpPr txBox="1"/>
          <p:nvPr/>
        </p:nvSpPr>
        <p:spPr>
          <a:xfrm>
            <a:off x="1063532" y="4794906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07BF4F-26D5-52BA-6477-DB1CC79F5B23}"/>
              </a:ext>
            </a:extLst>
          </p:cNvPr>
          <p:cNvSpPr txBox="1"/>
          <p:nvPr/>
        </p:nvSpPr>
        <p:spPr>
          <a:xfrm>
            <a:off x="1063532" y="5151337"/>
            <a:ext cx="248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dirty="0" err="1">
                <a:solidFill>
                  <a:srgbClr val="00B050"/>
                </a:solidFill>
                <a:latin typeface="Consolas" panose="020B0609020204030204" pitchFamily="49" charset="0"/>
              </a:rPr>
              <a:t>stack.pop</a:t>
            </a:r>
            <a:r>
              <a:rPr lang="en-PH" dirty="0">
                <a:solidFill>
                  <a:srgbClr val="00B050"/>
                </a:solidFill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477574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4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6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7" grpId="0"/>
      <p:bldP spid="48" grpId="0"/>
      <p:bldP spid="49" grpId="0"/>
      <p:bldP spid="42" grpId="0"/>
      <p:bldP spid="43" grpId="0"/>
      <p:bldP spid="44" grpId="0"/>
      <p:bldP spid="4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866</TotalTime>
  <Words>721</Words>
  <Application>Microsoft Office PowerPoint</Application>
  <PresentationFormat>Widescreen</PresentationFormat>
  <Paragraphs>172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Charter</vt:lpstr>
      <vt:lpstr>Consolas</vt:lpstr>
      <vt:lpstr>Office Theme</vt:lpstr>
      <vt:lpstr>Stack</vt:lpstr>
      <vt:lpstr>Push operation </vt:lpstr>
      <vt:lpstr>Pop operation</vt:lpstr>
      <vt:lpstr>Stack implementation using Arrays</vt:lpstr>
      <vt:lpstr>Push operation </vt:lpstr>
      <vt:lpstr>Pop operation</vt:lpstr>
      <vt:lpstr>Stack Implementation using Linked Lists</vt:lpstr>
      <vt:lpstr>Push operation </vt:lpstr>
      <vt:lpstr>Pop operation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57</cp:revision>
  <dcterms:created xsi:type="dcterms:W3CDTF">2022-05-11T03:47:05Z</dcterms:created>
  <dcterms:modified xsi:type="dcterms:W3CDTF">2026-05-12T00:31:02Z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</Properties>
</file>