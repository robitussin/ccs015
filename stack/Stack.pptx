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sldIdLst>
    <p:sldId id="293" r:id="rId5"/>
    <p:sldId id="299" r:id="rId6"/>
    <p:sldId id="298" r:id="rId7"/>
    <p:sldId id="290" r:id="rId8"/>
    <p:sldId id="301" r:id="rId9"/>
    <p:sldId id="303" r:id="rId10"/>
    <p:sldId id="302" r:id="rId11"/>
    <p:sldId id="304" r:id="rId12"/>
    <p:sldId id="300" r:id="rId13"/>
    <p:sldId id="297" r:id="rId14"/>
    <p:sldId id="294" r:id="rId15"/>
    <p:sldId id="291" r:id="rId16"/>
    <p:sldId id="295" r:id="rId17"/>
    <p:sldId id="29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5FF2ED-5567-445A-B3E0-3393544B04A6}" v="675" dt="2022-05-11T04:00:20.3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96" autoAdjust="0"/>
    <p:restoredTop sz="94131" autoAdjust="0"/>
  </p:normalViewPr>
  <p:slideViewPr>
    <p:cSldViewPr snapToGrid="0">
      <p:cViewPr varScale="1">
        <p:scale>
          <a:sx n="141" d="100"/>
          <a:sy n="141" d="100"/>
        </p:scale>
        <p:origin x="1038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66E1FD-E7A0-497B-BBC0-740BAAC97C64}" type="datetimeFigureOut">
              <a:rPr lang="en-PH" smtClean="0"/>
              <a:t>12/05/2026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90CCE9-4AAE-4E1F-85AD-521A406D652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59855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Charter"/>
              </a:rPr>
              <a:t>Have you asked yourself the question, why do people organize?</a:t>
            </a:r>
          </a:p>
          <a:p>
            <a:endParaRPr lang="en-US" b="0" i="0" dirty="0">
              <a:solidFill>
                <a:srgbClr val="000000"/>
              </a:solidFill>
              <a:effectLst/>
              <a:latin typeface="Charter"/>
            </a:endParaRP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Charter"/>
              </a:rPr>
              <a:t>Lets go to the psychology of organizing</a:t>
            </a:r>
          </a:p>
          <a:p>
            <a:endParaRPr lang="en-US" b="0" i="0" dirty="0">
              <a:solidFill>
                <a:srgbClr val="000000"/>
              </a:solidFill>
              <a:effectLst/>
              <a:latin typeface="Charter"/>
            </a:endParaRP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Charter"/>
              </a:rPr>
              <a:t>This predictability applies within the context of our homes, manifesting through the concept of organization</a:t>
            </a:r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474573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3540E-C587-62FB-B1EA-8C2FEC83C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BD9458-BF1F-A0AA-E340-32AD01A197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1DC58A-EAC5-375E-12AE-373892909B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Charter"/>
              </a:rPr>
              <a:t>Have you asked yourself the question, why do people organize?</a:t>
            </a:r>
          </a:p>
          <a:p>
            <a:endParaRPr lang="en-US" b="0" i="0" dirty="0">
              <a:solidFill>
                <a:srgbClr val="000000"/>
              </a:solidFill>
              <a:effectLst/>
              <a:latin typeface="Charter"/>
            </a:endParaRP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Charter"/>
              </a:rPr>
              <a:t>Lets go to the psychology of organizing</a:t>
            </a:r>
          </a:p>
          <a:p>
            <a:endParaRPr lang="en-US" b="0" i="0" dirty="0">
              <a:solidFill>
                <a:srgbClr val="000000"/>
              </a:solidFill>
              <a:effectLst/>
              <a:latin typeface="Charter"/>
            </a:endParaRP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Charter"/>
              </a:rPr>
              <a:t>This predictability applies within the context of our homes, manifesting through the concept of organization</a:t>
            </a:r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356AD9-4277-F2C9-D2D6-B8DB7FBDF8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835047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37F67-5F58-79FA-FD97-20BC1DE1A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21FB67-177E-102C-B5EE-5E08026B8F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FF9EE6-DD21-1AB2-C4F9-0D62678902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Charter"/>
              </a:rPr>
              <a:t>Have you asked yourself the question, why do people organize?</a:t>
            </a:r>
          </a:p>
          <a:p>
            <a:endParaRPr lang="en-US" b="0" i="0" dirty="0">
              <a:solidFill>
                <a:srgbClr val="000000"/>
              </a:solidFill>
              <a:effectLst/>
              <a:latin typeface="Charter"/>
            </a:endParaRP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Charter"/>
              </a:rPr>
              <a:t>Lets go to the psychology of organizing</a:t>
            </a:r>
          </a:p>
          <a:p>
            <a:endParaRPr lang="en-US" b="0" i="0" dirty="0">
              <a:solidFill>
                <a:srgbClr val="000000"/>
              </a:solidFill>
              <a:effectLst/>
              <a:latin typeface="Charter"/>
            </a:endParaRP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Charter"/>
              </a:rPr>
              <a:t>This predictability applies within the context of our homes, manifesting through the concept of organization</a:t>
            </a:r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1B05F9-285B-5351-AD33-D54D85A971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260453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Charter"/>
              </a:rPr>
              <a:t>Have you asked yourself the question, why do people organize?</a:t>
            </a:r>
          </a:p>
          <a:p>
            <a:endParaRPr lang="en-US" b="0" i="0" dirty="0">
              <a:solidFill>
                <a:srgbClr val="000000"/>
              </a:solidFill>
              <a:effectLst/>
              <a:latin typeface="Charter"/>
            </a:endParaRP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Charter"/>
              </a:rPr>
              <a:t>Lets go to the psychology of organizing</a:t>
            </a:r>
          </a:p>
          <a:p>
            <a:endParaRPr lang="en-US" b="0" i="0" dirty="0">
              <a:solidFill>
                <a:srgbClr val="000000"/>
              </a:solidFill>
              <a:effectLst/>
              <a:latin typeface="Charter"/>
            </a:endParaRP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Charter"/>
              </a:rPr>
              <a:t>This predictability applies within the context of our homes, manifesting through the concept of organization</a:t>
            </a:r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385797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AC464-A134-70EB-D5A9-AC99F7DDC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D5793F-A4E9-304D-D8C8-66D6BDC050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25D724-4206-B405-3F95-0307CEAC3C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Charter"/>
              </a:rPr>
              <a:t>Have you asked yourself the question, why do people organize?</a:t>
            </a:r>
          </a:p>
          <a:p>
            <a:endParaRPr lang="en-US" b="0" i="0" dirty="0">
              <a:solidFill>
                <a:srgbClr val="000000"/>
              </a:solidFill>
              <a:effectLst/>
              <a:latin typeface="Charter"/>
            </a:endParaRP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Charter"/>
              </a:rPr>
              <a:t>Lets go to the psychology of organizing</a:t>
            </a:r>
          </a:p>
          <a:p>
            <a:endParaRPr lang="en-US" b="0" i="0" dirty="0">
              <a:solidFill>
                <a:srgbClr val="000000"/>
              </a:solidFill>
              <a:effectLst/>
              <a:latin typeface="Charter"/>
            </a:endParaRP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Charter"/>
              </a:rPr>
              <a:t>This predictability applies within the context of our homes, manifesting through the concept of organization</a:t>
            </a:r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885A61-9948-1DE0-25DA-E460A8C73A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04496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53196-69F2-EC55-A7A9-C2C89506E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E20242-9796-468B-27BD-14CB4CCF2B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2D517C-7652-086C-5C97-9E0A278639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Charter"/>
              </a:rPr>
              <a:t>Have you asked yourself the question, why do people organize?</a:t>
            </a:r>
          </a:p>
          <a:p>
            <a:endParaRPr lang="en-US" b="0" i="0" dirty="0">
              <a:solidFill>
                <a:srgbClr val="000000"/>
              </a:solidFill>
              <a:effectLst/>
              <a:latin typeface="Charter"/>
            </a:endParaRP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Charter"/>
              </a:rPr>
              <a:t>Lets go to the psychology of organizing</a:t>
            </a:r>
          </a:p>
          <a:p>
            <a:endParaRPr lang="en-US" b="0" i="0" dirty="0">
              <a:solidFill>
                <a:srgbClr val="000000"/>
              </a:solidFill>
              <a:effectLst/>
              <a:latin typeface="Charter"/>
            </a:endParaRP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Charter"/>
              </a:rPr>
              <a:t>This predictability applies within the context of our homes, manifesting through the concept of organization</a:t>
            </a:r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18141E-E3A2-D9A2-D731-02D3F44C0F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755590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9EC91-ABC2-86DC-3CA5-9522E09E0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B7CC14-CD93-A0AE-6E56-C5A6526DA5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07B680-380E-3ED9-DA82-9CC787B02A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Charter"/>
              </a:rPr>
              <a:t>Have you asked yourself the question, why do people organize?</a:t>
            </a:r>
          </a:p>
          <a:p>
            <a:endParaRPr lang="en-US" b="0" i="0" dirty="0">
              <a:solidFill>
                <a:srgbClr val="000000"/>
              </a:solidFill>
              <a:effectLst/>
              <a:latin typeface="Charter"/>
            </a:endParaRP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Charter"/>
              </a:rPr>
              <a:t>Lets go to the psychology of organizing</a:t>
            </a:r>
          </a:p>
          <a:p>
            <a:endParaRPr lang="en-US" b="0" i="0" dirty="0">
              <a:solidFill>
                <a:srgbClr val="000000"/>
              </a:solidFill>
              <a:effectLst/>
              <a:latin typeface="Charter"/>
            </a:endParaRP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Charter"/>
              </a:rPr>
              <a:t>This predictability applies within the context of our homes, manifesting through the concept of organization</a:t>
            </a:r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CCD5F2-172B-242A-E06B-378A813CA2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547435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DF2AF-A10D-65BA-8A7F-031F173D8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CA7F2B-64E4-586C-E183-3B72FF982E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BFD412-505E-DBF6-B4E7-47E47ACCB8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Charter"/>
              </a:rPr>
              <a:t>Have you asked yourself the question, why do people organize?</a:t>
            </a:r>
          </a:p>
          <a:p>
            <a:endParaRPr lang="en-US" b="0" i="0" dirty="0">
              <a:solidFill>
                <a:srgbClr val="000000"/>
              </a:solidFill>
              <a:effectLst/>
              <a:latin typeface="Charter"/>
            </a:endParaRP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Charter"/>
              </a:rPr>
              <a:t>Lets go to the psychology of organizing</a:t>
            </a:r>
          </a:p>
          <a:p>
            <a:endParaRPr lang="en-US" b="0" i="0" dirty="0">
              <a:solidFill>
                <a:srgbClr val="000000"/>
              </a:solidFill>
              <a:effectLst/>
              <a:latin typeface="Charter"/>
            </a:endParaRP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Charter"/>
              </a:rPr>
              <a:t>This predictability applies within the context of our homes, manifesting through the concept of organization</a:t>
            </a:r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4A48A3-4BF7-7C59-AB22-129101695C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594355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1F548-00EE-FB48-4D32-1F67B6EA9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1DCFBD-5D95-117F-89A7-F982DF4CB2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1BD599-785F-CA45-6765-2F25CA6B86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Charter"/>
              </a:rPr>
              <a:t>Have you asked yourself the question, why do people organize?</a:t>
            </a:r>
          </a:p>
          <a:p>
            <a:endParaRPr lang="en-US" b="0" i="0" dirty="0">
              <a:solidFill>
                <a:srgbClr val="000000"/>
              </a:solidFill>
              <a:effectLst/>
              <a:latin typeface="Charter"/>
            </a:endParaRP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Charter"/>
              </a:rPr>
              <a:t>Lets go to the psychology of organizing</a:t>
            </a:r>
          </a:p>
          <a:p>
            <a:endParaRPr lang="en-US" b="0" i="0" dirty="0">
              <a:solidFill>
                <a:srgbClr val="000000"/>
              </a:solidFill>
              <a:effectLst/>
              <a:latin typeface="Charter"/>
            </a:endParaRP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Charter"/>
              </a:rPr>
              <a:t>This predictability applies within the context of our homes, manifesting through the concept of organization</a:t>
            </a:r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8B5EB2-33DB-490F-1231-34B2F48509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496838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199C8-2291-FF5B-010A-F6C27AFF8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7D1A3B-A8FF-E4AA-E15A-2B22EDA709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F06508-E026-9CD2-7634-3FE0369137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Charter"/>
              </a:rPr>
              <a:t>Have you asked yourself the question, why do people organize?</a:t>
            </a:r>
          </a:p>
          <a:p>
            <a:endParaRPr lang="en-US" b="0" i="0" dirty="0">
              <a:solidFill>
                <a:srgbClr val="000000"/>
              </a:solidFill>
              <a:effectLst/>
              <a:latin typeface="Charter"/>
            </a:endParaRP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Charter"/>
              </a:rPr>
              <a:t>Lets go to the psychology of organizing</a:t>
            </a:r>
          </a:p>
          <a:p>
            <a:endParaRPr lang="en-US" b="0" i="0" dirty="0">
              <a:solidFill>
                <a:srgbClr val="000000"/>
              </a:solidFill>
              <a:effectLst/>
              <a:latin typeface="Charter"/>
            </a:endParaRP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Charter"/>
              </a:rPr>
              <a:t>This predictability applies within the context of our homes, manifesting through the concept of organization</a:t>
            </a:r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A1AC77-4661-8B57-87D8-2E387FD77D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142716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Charter"/>
              </a:rPr>
              <a:t>Have you asked yourself the question, why do people organize?</a:t>
            </a:r>
          </a:p>
          <a:p>
            <a:endParaRPr lang="en-US" b="0" i="0" dirty="0">
              <a:solidFill>
                <a:srgbClr val="000000"/>
              </a:solidFill>
              <a:effectLst/>
              <a:latin typeface="Charter"/>
            </a:endParaRP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Charter"/>
              </a:rPr>
              <a:t>Lets go to the psychology of organizing</a:t>
            </a:r>
          </a:p>
          <a:p>
            <a:endParaRPr lang="en-US" b="0" i="0" dirty="0">
              <a:solidFill>
                <a:srgbClr val="000000"/>
              </a:solidFill>
              <a:effectLst/>
              <a:latin typeface="Charter"/>
            </a:endParaRP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Charter"/>
              </a:rPr>
              <a:t>This predictability applies within the context of our homes, manifesting through the concept of organization</a:t>
            </a:r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628357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Charter"/>
              </a:rPr>
              <a:t>Have you asked yourself the question, why do people organize?</a:t>
            </a:r>
          </a:p>
          <a:p>
            <a:endParaRPr lang="en-US" b="0" i="0" dirty="0">
              <a:solidFill>
                <a:srgbClr val="000000"/>
              </a:solidFill>
              <a:effectLst/>
              <a:latin typeface="Charter"/>
            </a:endParaRP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Charter"/>
              </a:rPr>
              <a:t>Lets go to the psychology of organizing</a:t>
            </a:r>
          </a:p>
          <a:p>
            <a:endParaRPr lang="en-US" b="0" i="0" dirty="0">
              <a:solidFill>
                <a:srgbClr val="000000"/>
              </a:solidFill>
              <a:effectLst/>
              <a:latin typeface="Charter"/>
            </a:endParaRP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Charter"/>
              </a:rPr>
              <a:t>This predictability applies within the context of our homes, manifesting through the concept of organization</a:t>
            </a:r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033630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Charter"/>
              </a:rPr>
              <a:t>Have you asked yourself the question, why do people organize?</a:t>
            </a:r>
          </a:p>
          <a:p>
            <a:endParaRPr lang="en-US" b="0" i="0" dirty="0">
              <a:solidFill>
                <a:srgbClr val="000000"/>
              </a:solidFill>
              <a:effectLst/>
              <a:latin typeface="Charter"/>
            </a:endParaRP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Charter"/>
              </a:rPr>
              <a:t>Lets go to the psychology of organizing</a:t>
            </a:r>
          </a:p>
          <a:p>
            <a:endParaRPr lang="en-US" b="0" i="0" dirty="0">
              <a:solidFill>
                <a:srgbClr val="000000"/>
              </a:solidFill>
              <a:effectLst/>
              <a:latin typeface="Charter"/>
            </a:endParaRP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Charter"/>
              </a:rPr>
              <a:t>This predictability applies within the context of our homes, manifesting through the concept of organization</a:t>
            </a:r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531705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Charter"/>
              </a:rPr>
              <a:t>Have you asked yourself the question, why do people organize?</a:t>
            </a:r>
          </a:p>
          <a:p>
            <a:endParaRPr lang="en-US" b="0" i="0" dirty="0">
              <a:solidFill>
                <a:srgbClr val="000000"/>
              </a:solidFill>
              <a:effectLst/>
              <a:latin typeface="Charter"/>
            </a:endParaRP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Charter"/>
              </a:rPr>
              <a:t>Lets go to the psychology of organizing</a:t>
            </a:r>
          </a:p>
          <a:p>
            <a:endParaRPr lang="en-US" b="0" i="0" dirty="0">
              <a:solidFill>
                <a:srgbClr val="000000"/>
              </a:solidFill>
              <a:effectLst/>
              <a:latin typeface="Charter"/>
            </a:endParaRP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Charter"/>
              </a:rPr>
              <a:t>This predictability applies within the context of our homes, manifesting through the concept of organization</a:t>
            </a:r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550972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B1E6E-2408-484E-8979-2DB96F2F8A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47B426-68B8-4CB7-871C-5CC84E86C6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52935-9451-4839-96FB-E9A8FCCD6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12/05/2026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8F784-7AF5-4560-BEFA-8C8096530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98F6B-191E-4E4B-BE34-C76137125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31934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87643-F5D7-48E2-ADAB-95C74CECF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FC6CC-B49B-452C-8E9C-808488E73C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BF4EE-800F-479B-9D99-FD0B990C4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12/05/2026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A3E0ED-BABB-43F4-8ACF-6AB1C583C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6B210-80B8-4EC4-A5DD-626DF335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89668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20E17-7239-452C-8B6C-2DE99BB75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2621D8-37ED-476B-884F-26990A946C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2FE869-1B16-425A-9EFF-D1D147E64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12/05/2026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7772C-84B9-4CA4-BC65-3D41F9D33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6E878-86EF-4ABF-A7AD-65B43A873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12625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D03AF-7534-49E0-B0A2-F0403B159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63158-1F78-4261-99A0-55F573DD04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B12B8E-1661-462B-A00C-FE1078E5F2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6763DF-E084-447E-A488-9F9D328A9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12/05/2026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46663E-C0B8-407A-9C08-AD7A14CDF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444692-F2BB-4F15-9AC6-1D337C5F6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52483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24591-52D4-4A6A-81FF-CF9B69DD3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D74561-7712-4BE5-B42C-1DF224123B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C6369D-C1D0-4A4F-85B0-DC21BD7E9C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D26301-7EFA-4E2D-8E37-01989EDE45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68D5A3-0863-4C19-8CDF-E5F6380092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1BD46F-0A9D-4A21-A809-A8A4915A7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12/05/2026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B3FE40-3AE1-4501-BD99-5BB30AA8E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9DB7BF-E7E2-4599-93C1-314862B49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95543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BA4B7-5BD0-45CE-A3AB-0BDAEBCB2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317F3A-B35D-4332-A083-A8EA82A8C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12/05/2026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5D1BAA-3C55-422C-9DDB-C8FA24667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545CCC-0421-4BC8-A428-7D6891975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61049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A8D164-8317-4375-AC20-4E5ECFBC8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12/05/2026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E65B31-8161-47C0-B8D2-02FC9D063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A5A49-C1DE-4043-9C4E-CA88B7D93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4507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41128-45F1-4E37-A76C-48135B4B5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6B574-F2D0-4A1E-971A-951AD113F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4A9BF5-4AAF-46A8-9307-3E49D1DC7F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84D477-7EF0-4092-A585-C8B452D86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12/05/2026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2B03C4-61D6-4E97-BF6A-97F683277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1C0268-0C31-4494-872A-FF14572B0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44569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1858D-F4CE-4847-9F4E-96911B726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12DC33-E4BE-4D59-8A3E-E5C8C7FEA8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662A18-4E8B-44E0-95B0-48E49B06BB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83A010-3289-4BEF-9BA6-B9291ECCA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12/05/2026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F1841C-B8D0-4564-AB48-104684286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FD835-28F9-4C9B-8DEF-1C8AF7C19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69181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C9526-6B4B-4B7C-836C-CA5ECFEE1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D3F895-13B7-4F09-8F2B-7C7B281BDC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D4FF3-605C-448B-ABE0-7A159B7B3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12/05/2026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D10917-6EAA-48EE-AE32-E15F33FCA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51C44-2EAE-49AE-A864-682DEB3D8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69415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CFD600-C7E3-42EE-9735-2FE3EDE776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C80727-2711-434B-AEFB-9E214673E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47950-A376-49E5-A09E-DEAA9AD59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12/05/2026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8641F-5631-4BB0-94A8-CB1A2D78F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56033-BC76-47F3-AA32-F159420DF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68849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E2D0B8-307D-483C-BA2C-9A8A459E4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75D10E-5C2B-4972-BF7B-F957546074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C434A-E16E-4577-B5A4-C633EF521A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CF0B81-6BD8-4C65-9459-815598C5F1F4}" type="datetimeFigureOut">
              <a:rPr lang="en-PH" smtClean="0"/>
              <a:t>12/05/2026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9472F3-C75B-4412-A75D-AF542B82AF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0A6DE4-6572-40B4-8CEF-D76FDC9FDC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86813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openclipart.org/detail/73765/t-shirt_yelow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freesvg.org/red-t-shirt" TargetMode="External"/><Relationship Id="rId5" Type="http://schemas.openxmlformats.org/officeDocument/2006/relationships/image" Target="../media/image2.png"/><Relationship Id="rId10" Type="http://schemas.openxmlformats.org/officeDocument/2006/relationships/hyperlink" Target="https://openclipart.org/detail/118633/green-2-tshirt" TargetMode="External"/><Relationship Id="rId4" Type="http://schemas.openxmlformats.org/officeDocument/2006/relationships/hyperlink" Target="https://freesvg.org/blue-t-shirt-vector-clip-art11657" TargetMode="External"/><Relationship Id="rId9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openclipart.org/detail/73765/t-shirt_yelow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freesvg.org/red-t-shirt" TargetMode="External"/><Relationship Id="rId5" Type="http://schemas.openxmlformats.org/officeDocument/2006/relationships/image" Target="../media/image2.png"/><Relationship Id="rId10" Type="http://schemas.openxmlformats.org/officeDocument/2006/relationships/hyperlink" Target="https://openclipart.org/detail/118633/green-2-tshirt" TargetMode="External"/><Relationship Id="rId4" Type="http://schemas.openxmlformats.org/officeDocument/2006/relationships/hyperlink" Target="https://freesvg.org/blue-t-shirt-vector-clip-art11657" TargetMode="External"/><Relationship Id="rId9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openclipart.org/detail/73765/t-shirt_yelow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freesvg.org/red-t-shirt" TargetMode="External"/><Relationship Id="rId5" Type="http://schemas.openxmlformats.org/officeDocument/2006/relationships/image" Target="../media/image2.png"/><Relationship Id="rId10" Type="http://schemas.openxmlformats.org/officeDocument/2006/relationships/hyperlink" Target="https://openclipart.org/detail/118633/green-2-tshirt" TargetMode="External"/><Relationship Id="rId4" Type="http://schemas.openxmlformats.org/officeDocument/2006/relationships/hyperlink" Target="https://freesvg.org/blue-t-shirt-vector-clip-art11657" TargetMode="External"/><Relationship Id="rId9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openclipart.org/detail/73765/t-shirt_yelow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freesvg.org/red-t-shirt" TargetMode="External"/><Relationship Id="rId5" Type="http://schemas.openxmlformats.org/officeDocument/2006/relationships/image" Target="../media/image2.png"/><Relationship Id="rId10" Type="http://schemas.openxmlformats.org/officeDocument/2006/relationships/hyperlink" Target="https://openclipart.org/detail/118633/green-2-tshirt" TargetMode="External"/><Relationship Id="rId4" Type="http://schemas.openxmlformats.org/officeDocument/2006/relationships/hyperlink" Target="https://freesvg.org/blue-t-shirt-vector-clip-art11657" TargetMode="External"/><Relationship Id="rId9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openclipart.org/detail/73765/t-shirt_yelow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freesvg.org/red-t-shirt" TargetMode="External"/><Relationship Id="rId5" Type="http://schemas.openxmlformats.org/officeDocument/2006/relationships/image" Target="../media/image2.png"/><Relationship Id="rId10" Type="http://schemas.openxmlformats.org/officeDocument/2006/relationships/hyperlink" Target="https://openclipart.org/detail/118633/green-2-tshirt" TargetMode="External"/><Relationship Id="rId4" Type="http://schemas.openxmlformats.org/officeDocument/2006/relationships/hyperlink" Target="https://freesvg.org/blue-t-shirt-vector-clip-art11657" TargetMode="External"/><Relationship Id="rId9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openclipart.org/detail/73765/t-shirt_yelow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freesvg.org/red-t-shirt" TargetMode="External"/><Relationship Id="rId5" Type="http://schemas.openxmlformats.org/officeDocument/2006/relationships/image" Target="../media/image2.png"/><Relationship Id="rId10" Type="http://schemas.openxmlformats.org/officeDocument/2006/relationships/hyperlink" Target="https://openclipart.org/detail/118633/green-2-tshirt" TargetMode="External"/><Relationship Id="rId4" Type="http://schemas.openxmlformats.org/officeDocument/2006/relationships/hyperlink" Target="https://freesvg.org/blue-t-shirt-vector-clip-art11657" TargetMode="External"/><Relationship Id="rId9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openclipart.org/detail/73765/t-shirt_yelow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freesvg.org/red-t-shirt" TargetMode="External"/><Relationship Id="rId5" Type="http://schemas.openxmlformats.org/officeDocument/2006/relationships/image" Target="../media/image2.png"/><Relationship Id="rId10" Type="http://schemas.openxmlformats.org/officeDocument/2006/relationships/hyperlink" Target="https://openclipart.org/detail/118633/green-2-tshirt" TargetMode="External"/><Relationship Id="rId4" Type="http://schemas.openxmlformats.org/officeDocument/2006/relationships/hyperlink" Target="https://freesvg.org/blue-t-shirt-vector-clip-art11657" TargetMode="External"/><Relationship Id="rId9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openclipart.org/detail/73765/t-shirt_yelow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freesvg.org/red-t-shirt" TargetMode="External"/><Relationship Id="rId5" Type="http://schemas.openxmlformats.org/officeDocument/2006/relationships/image" Target="../media/image2.png"/><Relationship Id="rId10" Type="http://schemas.openxmlformats.org/officeDocument/2006/relationships/hyperlink" Target="https://openclipart.org/detail/118633/green-2-tshirt" TargetMode="External"/><Relationship Id="rId4" Type="http://schemas.openxmlformats.org/officeDocument/2006/relationships/hyperlink" Target="https://freesvg.org/blue-t-shirt-vector-clip-art11657" TargetMode="External"/><Relationship Id="rId9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openclipart.org/detail/118633/green-2-tshirt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freesvg.org/red-t-shirt" TargetMode="External"/><Relationship Id="rId5" Type="http://schemas.openxmlformats.org/officeDocument/2006/relationships/image" Target="../media/image2.png"/><Relationship Id="rId10" Type="http://schemas.openxmlformats.org/officeDocument/2006/relationships/hyperlink" Target="https://openclipart.org/detail/73765/t-shirt_yelow" TargetMode="External"/><Relationship Id="rId4" Type="http://schemas.openxmlformats.org/officeDocument/2006/relationships/hyperlink" Target="https://freesvg.org/blue-t-shirt-vector-clip-art11657" TargetMode="External"/><Relationship Id="rId9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openclipart.org/detail/73765/t-shirt_yelow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freesvg.org/red-t-shirt" TargetMode="External"/><Relationship Id="rId5" Type="http://schemas.openxmlformats.org/officeDocument/2006/relationships/image" Target="../media/image2.png"/><Relationship Id="rId10" Type="http://schemas.openxmlformats.org/officeDocument/2006/relationships/hyperlink" Target="https://openclipart.org/detail/118633/green-2-tshirt" TargetMode="External"/><Relationship Id="rId4" Type="http://schemas.openxmlformats.org/officeDocument/2006/relationships/hyperlink" Target="https://freesvg.org/blue-t-shirt-vector-clip-art11657" TargetMode="External"/><Relationship Id="rId9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openclipart.org/detail/73765/t-shirt_yelow" TargetMode="External"/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freesvg.org/blue-t-shirt-vector-clip-art11657" TargetMode="External"/><Relationship Id="rId5" Type="http://schemas.openxmlformats.org/officeDocument/2006/relationships/image" Target="../media/image1.png"/><Relationship Id="rId10" Type="http://schemas.openxmlformats.org/officeDocument/2006/relationships/hyperlink" Target="https://openclipart.org/detail/118633/green-2-tshirt" TargetMode="External"/><Relationship Id="rId4" Type="http://schemas.openxmlformats.org/officeDocument/2006/relationships/hyperlink" Target="https://freesvg.org/red-t-shirt" TargetMode="External"/><Relationship Id="rId9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openclipart.org/detail/118633/green-2-tshirt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freesvg.org/red-t-shirt" TargetMode="External"/><Relationship Id="rId5" Type="http://schemas.openxmlformats.org/officeDocument/2006/relationships/image" Target="../media/image2.png"/><Relationship Id="rId10" Type="http://schemas.openxmlformats.org/officeDocument/2006/relationships/hyperlink" Target="https://openclipart.org/detail/73765/t-shirt_yelow" TargetMode="External"/><Relationship Id="rId4" Type="http://schemas.openxmlformats.org/officeDocument/2006/relationships/hyperlink" Target="https://freesvg.org/blue-t-shirt-vector-clip-art11657" TargetMode="External"/><Relationship Id="rId9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openclipart.org/detail/118633/green-2-tshirt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freesvg.org/red-t-shirt" TargetMode="External"/><Relationship Id="rId5" Type="http://schemas.openxmlformats.org/officeDocument/2006/relationships/image" Target="../media/image2.png"/><Relationship Id="rId10" Type="http://schemas.openxmlformats.org/officeDocument/2006/relationships/hyperlink" Target="https://openclipart.org/detail/73765/t-shirt_yelow" TargetMode="External"/><Relationship Id="rId4" Type="http://schemas.openxmlformats.org/officeDocument/2006/relationships/hyperlink" Target="https://freesvg.org/blue-t-shirt-vector-clip-art11657" TargetMode="External"/><Relationship Id="rId9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openclipart.org/detail/118633/green-2-tshirt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freesvg.org/red-t-shirt" TargetMode="External"/><Relationship Id="rId5" Type="http://schemas.openxmlformats.org/officeDocument/2006/relationships/image" Target="../media/image2.png"/><Relationship Id="rId10" Type="http://schemas.openxmlformats.org/officeDocument/2006/relationships/hyperlink" Target="https://openclipart.org/detail/73765/t-shirt_yelow" TargetMode="External"/><Relationship Id="rId4" Type="http://schemas.openxmlformats.org/officeDocument/2006/relationships/hyperlink" Target="https://freesvg.org/blue-t-shirt-vector-clip-art11657" TargetMode="External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" name="Table 31">
            <a:extLst>
              <a:ext uri="{FF2B5EF4-FFF2-40B4-BE49-F238E27FC236}">
                <a16:creationId xmlns:a16="http://schemas.microsoft.com/office/drawing/2014/main" id="{3EDA3525-D1AC-4B39-4628-DE727256DA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7905217"/>
              </p:ext>
            </p:extLst>
          </p:nvPr>
        </p:nvGraphicFramePr>
        <p:xfrm>
          <a:off x="5021592" y="2278106"/>
          <a:ext cx="2037080" cy="23481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7080">
                  <a:extLst>
                    <a:ext uri="{9D8B030D-6E8A-4147-A177-3AD203B41FA5}">
                      <a16:colId xmlns:a16="http://schemas.microsoft.com/office/drawing/2014/main" val="1867406527"/>
                    </a:ext>
                  </a:extLst>
                </a:gridCol>
              </a:tblGrid>
              <a:tr h="587029"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7862470"/>
                  </a:ext>
                </a:extLst>
              </a:tr>
              <a:tr h="587029"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9772172"/>
                  </a:ext>
                </a:extLst>
              </a:tr>
              <a:tr h="587029"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2862954"/>
                  </a:ext>
                </a:extLst>
              </a:tr>
              <a:tr h="587029"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6599522"/>
                  </a:ext>
                </a:extLst>
              </a:tr>
            </a:tbl>
          </a:graphicData>
        </a:graphic>
      </p:graphicFrame>
      <p:pic>
        <p:nvPicPr>
          <p:cNvPr id="19" name="Picture 18">
            <a:extLst>
              <a:ext uri="{FF2B5EF4-FFF2-40B4-BE49-F238E27FC236}">
                <a16:creationId xmlns:a16="http://schemas.microsoft.com/office/drawing/2014/main" id="{E69FB9D7-1D76-44ED-1581-92874D881B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7286139" y="4080301"/>
            <a:ext cx="545921" cy="545921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B33FBCC3-4573-0F0F-8EC2-7D331720FD53}"/>
              </a:ext>
            </a:extLst>
          </p:cNvPr>
          <p:cNvSpPr txBox="1"/>
          <p:nvPr/>
        </p:nvSpPr>
        <p:spPr>
          <a:xfrm>
            <a:off x="5462282" y="4117982"/>
            <a:ext cx="1155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b="1" dirty="0">
                <a:solidFill>
                  <a:srgbClr val="00B050"/>
                </a:solidFill>
              </a:rPr>
              <a:t>Blue Shirt</a:t>
            </a:r>
          </a:p>
        </p:txBody>
      </p:sp>
      <p:pic>
        <p:nvPicPr>
          <p:cNvPr id="17" name="Picture 16" descr="A picture containing shirt&#10;&#10;Description automatically generated">
            <a:extLst>
              <a:ext uri="{FF2B5EF4-FFF2-40B4-BE49-F238E27FC236}">
                <a16:creationId xmlns:a16="http://schemas.microsoft.com/office/drawing/2014/main" id="{CBC0D990-F61C-886D-0174-0C9734DFFE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7271407" y="3481007"/>
            <a:ext cx="545921" cy="53918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77D901AC-4A5F-0473-6B23-69F7558EE895}"/>
              </a:ext>
            </a:extLst>
          </p:cNvPr>
          <p:cNvSpPr txBox="1"/>
          <p:nvPr/>
        </p:nvSpPr>
        <p:spPr>
          <a:xfrm>
            <a:off x="5462282" y="3530376"/>
            <a:ext cx="1155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b="1" dirty="0">
                <a:solidFill>
                  <a:srgbClr val="00B050"/>
                </a:solidFill>
              </a:rPr>
              <a:t>Red Shirt</a:t>
            </a:r>
          </a:p>
        </p:txBody>
      </p:sp>
      <p:pic>
        <p:nvPicPr>
          <p:cNvPr id="26" name="Picture 25" descr="Diagram&#10;&#10;Description automatically generated with low confidence">
            <a:extLst>
              <a:ext uri="{FF2B5EF4-FFF2-40B4-BE49-F238E27FC236}">
                <a16:creationId xmlns:a16="http://schemas.microsoft.com/office/drawing/2014/main" id="{224C7777-5A04-AE76-6E42-09F1556BA93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7271407" y="2874972"/>
            <a:ext cx="545921" cy="545921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0CC4A1A5-8137-8664-3CCF-74C048507E63}"/>
              </a:ext>
            </a:extLst>
          </p:cNvPr>
          <p:cNvSpPr txBox="1"/>
          <p:nvPr/>
        </p:nvSpPr>
        <p:spPr>
          <a:xfrm>
            <a:off x="5333888" y="3000168"/>
            <a:ext cx="1417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b="1" dirty="0">
                <a:solidFill>
                  <a:srgbClr val="00B050"/>
                </a:solidFill>
              </a:rPr>
              <a:t>Yellow Shirt</a:t>
            </a:r>
          </a:p>
        </p:txBody>
      </p:sp>
      <p:pic>
        <p:nvPicPr>
          <p:cNvPr id="24" name="Picture 23" descr="Diagram&#10;&#10;Description automatically generated">
            <a:extLst>
              <a:ext uri="{FF2B5EF4-FFF2-40B4-BE49-F238E27FC236}">
                <a16:creationId xmlns:a16="http://schemas.microsoft.com/office/drawing/2014/main" id="{E7805405-62A9-D8B6-F101-E4F92391F41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7308773" y="2254942"/>
            <a:ext cx="500655" cy="545921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6E9802A0-DC44-241F-7C09-E15160BA19C1}"/>
              </a:ext>
            </a:extLst>
          </p:cNvPr>
          <p:cNvSpPr txBox="1"/>
          <p:nvPr/>
        </p:nvSpPr>
        <p:spPr>
          <a:xfrm>
            <a:off x="5344055" y="2405334"/>
            <a:ext cx="1417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b="1" dirty="0">
                <a:solidFill>
                  <a:srgbClr val="00B050"/>
                </a:solidFill>
              </a:rPr>
              <a:t>Green Shirt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359A545-5E0C-E6E5-274C-D470E99B10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Stack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1121B2-8C34-C723-AA30-2A804B79DD2B}"/>
              </a:ext>
            </a:extLst>
          </p:cNvPr>
          <p:cNvSpPr txBox="1"/>
          <p:nvPr/>
        </p:nvSpPr>
        <p:spPr>
          <a:xfrm>
            <a:off x="609600" y="5372418"/>
            <a:ext cx="109728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500" dirty="0">
                <a:solidFill>
                  <a:schemeClr val="bg1"/>
                </a:solidFill>
              </a:rPr>
              <a:t>A </a:t>
            </a:r>
            <a:r>
              <a:rPr lang="en-US" sz="2500" b="1" dirty="0">
                <a:solidFill>
                  <a:schemeClr val="bg1"/>
                </a:solidFill>
              </a:rPr>
              <a:t>stack</a:t>
            </a:r>
            <a:r>
              <a:rPr lang="en-US" sz="2500" dirty="0">
                <a:solidFill>
                  <a:schemeClr val="bg1"/>
                </a:solidFill>
              </a:rPr>
              <a:t> is a linear data structure that follows the principle of </a:t>
            </a:r>
            <a:r>
              <a:rPr lang="en-US" sz="2500" b="1" dirty="0">
                <a:solidFill>
                  <a:schemeClr val="bg1"/>
                </a:solidFill>
              </a:rPr>
              <a:t>Last In First Out (LIFO)</a:t>
            </a:r>
            <a:r>
              <a:rPr lang="en-US" sz="2500" dirty="0">
                <a:solidFill>
                  <a:schemeClr val="bg1"/>
                </a:solidFill>
              </a:rPr>
              <a:t>. </a:t>
            </a:r>
          </a:p>
        </p:txBody>
      </p:sp>
      <p:graphicFrame>
        <p:nvGraphicFramePr>
          <p:cNvPr id="2" name="Table 35">
            <a:extLst>
              <a:ext uri="{FF2B5EF4-FFF2-40B4-BE49-F238E27FC236}">
                <a16:creationId xmlns:a16="http://schemas.microsoft.com/office/drawing/2014/main" id="{46D59ABB-DDD7-B248-5FD7-5F739CC9FF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0671792"/>
              </p:ext>
            </p:extLst>
          </p:nvPr>
        </p:nvGraphicFramePr>
        <p:xfrm>
          <a:off x="3813388" y="2405334"/>
          <a:ext cx="1107946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07946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Top </a:t>
                      </a:r>
                      <a:r>
                        <a:rPr lang="en-PH" b="1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endParaRPr lang="en-PH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1016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A3B2D5-63C7-5D1D-E3DC-B3FC34231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" name="Table 31">
            <a:extLst>
              <a:ext uri="{FF2B5EF4-FFF2-40B4-BE49-F238E27FC236}">
                <a16:creationId xmlns:a16="http://schemas.microsoft.com/office/drawing/2014/main" id="{D4827599-B196-0B41-D4A9-90EEC59DBB60}"/>
              </a:ext>
            </a:extLst>
          </p:cNvPr>
          <p:cNvGraphicFramePr>
            <a:graphicFrameLocks noGrp="1"/>
          </p:cNvGraphicFramePr>
          <p:nvPr/>
        </p:nvGraphicFramePr>
        <p:xfrm>
          <a:off x="5021592" y="2278106"/>
          <a:ext cx="2037080" cy="23481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7080">
                  <a:extLst>
                    <a:ext uri="{9D8B030D-6E8A-4147-A177-3AD203B41FA5}">
                      <a16:colId xmlns:a16="http://schemas.microsoft.com/office/drawing/2014/main" val="1867406527"/>
                    </a:ext>
                  </a:extLst>
                </a:gridCol>
              </a:tblGrid>
              <a:tr h="587029"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7862470"/>
                  </a:ext>
                </a:extLst>
              </a:tr>
              <a:tr h="587029"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9772172"/>
                  </a:ext>
                </a:extLst>
              </a:tr>
              <a:tr h="587029"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2862954"/>
                  </a:ext>
                </a:extLst>
              </a:tr>
              <a:tr h="587029"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6599522"/>
                  </a:ext>
                </a:extLst>
              </a:tr>
            </a:tbl>
          </a:graphicData>
        </a:graphic>
      </p:graphicFrame>
      <p:pic>
        <p:nvPicPr>
          <p:cNvPr id="19" name="Picture 18">
            <a:extLst>
              <a:ext uri="{FF2B5EF4-FFF2-40B4-BE49-F238E27FC236}">
                <a16:creationId xmlns:a16="http://schemas.microsoft.com/office/drawing/2014/main" id="{6B5D80DF-A208-7ACB-167D-5FE7EC3A92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7286139" y="4080301"/>
            <a:ext cx="545921" cy="545921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FE0F3CE1-0825-FC9B-E69D-38482D61315B}"/>
              </a:ext>
            </a:extLst>
          </p:cNvPr>
          <p:cNvSpPr txBox="1"/>
          <p:nvPr/>
        </p:nvSpPr>
        <p:spPr>
          <a:xfrm>
            <a:off x="5462282" y="4117982"/>
            <a:ext cx="1155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b="1" dirty="0">
                <a:solidFill>
                  <a:srgbClr val="00B050"/>
                </a:solidFill>
              </a:rPr>
              <a:t>Blue Shirt</a:t>
            </a:r>
          </a:p>
        </p:txBody>
      </p:sp>
      <p:pic>
        <p:nvPicPr>
          <p:cNvPr id="17" name="Picture 16" descr="A picture containing shirt&#10;&#10;Description automatically generated">
            <a:extLst>
              <a:ext uri="{FF2B5EF4-FFF2-40B4-BE49-F238E27FC236}">
                <a16:creationId xmlns:a16="http://schemas.microsoft.com/office/drawing/2014/main" id="{3142F74B-1AB6-9AE0-641D-E2B2E8B56B8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7271407" y="3481007"/>
            <a:ext cx="545921" cy="53918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7403A71F-2378-91E0-800D-7C1C1DA47264}"/>
              </a:ext>
            </a:extLst>
          </p:cNvPr>
          <p:cNvSpPr txBox="1"/>
          <p:nvPr/>
        </p:nvSpPr>
        <p:spPr>
          <a:xfrm>
            <a:off x="5462282" y="3530376"/>
            <a:ext cx="1155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b="1" dirty="0">
                <a:solidFill>
                  <a:srgbClr val="00B050"/>
                </a:solidFill>
              </a:rPr>
              <a:t>Red Shirt</a:t>
            </a:r>
          </a:p>
        </p:txBody>
      </p:sp>
      <p:pic>
        <p:nvPicPr>
          <p:cNvPr id="26" name="Picture 25" descr="Diagram&#10;&#10;Description automatically generated with low confidence">
            <a:extLst>
              <a:ext uri="{FF2B5EF4-FFF2-40B4-BE49-F238E27FC236}">
                <a16:creationId xmlns:a16="http://schemas.microsoft.com/office/drawing/2014/main" id="{A3D0B298-7FAF-2C2D-644B-CAB0784A9AF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7271407" y="2874972"/>
            <a:ext cx="545921" cy="545921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0322BE4B-D94F-360C-7C87-2FE8F4242181}"/>
              </a:ext>
            </a:extLst>
          </p:cNvPr>
          <p:cNvSpPr txBox="1"/>
          <p:nvPr/>
        </p:nvSpPr>
        <p:spPr>
          <a:xfrm>
            <a:off x="5333888" y="3000168"/>
            <a:ext cx="1417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b="1" dirty="0">
                <a:solidFill>
                  <a:srgbClr val="00B050"/>
                </a:solidFill>
              </a:rPr>
              <a:t>Yellow Shirt</a:t>
            </a:r>
          </a:p>
        </p:txBody>
      </p:sp>
      <p:pic>
        <p:nvPicPr>
          <p:cNvPr id="24" name="Picture 23" descr="Diagram&#10;&#10;Description automatically generated">
            <a:extLst>
              <a:ext uri="{FF2B5EF4-FFF2-40B4-BE49-F238E27FC236}">
                <a16:creationId xmlns:a16="http://schemas.microsoft.com/office/drawing/2014/main" id="{9C913226-CC84-B580-843C-CECC1DAFA1C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7308773" y="2254942"/>
            <a:ext cx="500655" cy="545921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CA526A93-CC91-B74C-07A3-6B77A7777CD6}"/>
              </a:ext>
            </a:extLst>
          </p:cNvPr>
          <p:cNvSpPr txBox="1"/>
          <p:nvPr/>
        </p:nvSpPr>
        <p:spPr>
          <a:xfrm>
            <a:off x="5344055" y="2405334"/>
            <a:ext cx="1417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b="1" dirty="0">
                <a:solidFill>
                  <a:srgbClr val="00B050"/>
                </a:solidFill>
              </a:rPr>
              <a:t>Green Shirt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7D0B2D-C147-FEEC-EC06-68ACBFB2F5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Push operation 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0FFE47-2AF2-5D46-46DB-3D5FF673BF9F}"/>
              </a:ext>
            </a:extLst>
          </p:cNvPr>
          <p:cNvSpPr txBox="1"/>
          <p:nvPr/>
        </p:nvSpPr>
        <p:spPr>
          <a:xfrm>
            <a:off x="609600" y="5372418"/>
            <a:ext cx="109728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Last In First Out (LIFO). </a:t>
            </a:r>
            <a:r>
              <a:rPr lang="en-PH" sz="2500" dirty="0">
                <a:solidFill>
                  <a:schemeClr val="bg1"/>
                </a:solidFill>
              </a:rPr>
              <a:t>The last element that is inserted (push) will be the first element that will be removed (pop)</a:t>
            </a:r>
          </a:p>
        </p:txBody>
      </p:sp>
      <p:graphicFrame>
        <p:nvGraphicFramePr>
          <p:cNvPr id="2" name="Table 35">
            <a:extLst>
              <a:ext uri="{FF2B5EF4-FFF2-40B4-BE49-F238E27FC236}">
                <a16:creationId xmlns:a16="http://schemas.microsoft.com/office/drawing/2014/main" id="{302D5D30-E7DE-ABD3-46EC-9C559F401F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2154827"/>
              </p:ext>
            </p:extLst>
          </p:nvPr>
        </p:nvGraphicFramePr>
        <p:xfrm>
          <a:off x="3983193" y="4170381"/>
          <a:ext cx="93814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38140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Top </a:t>
                      </a:r>
                      <a:r>
                        <a:rPr lang="en-PH" b="1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endParaRPr lang="en-PH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graphicFrame>
        <p:nvGraphicFramePr>
          <p:cNvPr id="3" name="Table 35">
            <a:extLst>
              <a:ext uri="{FF2B5EF4-FFF2-40B4-BE49-F238E27FC236}">
                <a16:creationId xmlns:a16="http://schemas.microsoft.com/office/drawing/2014/main" id="{DA0E148C-676E-04AF-2500-967FC4F80F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9898792"/>
              </p:ext>
            </p:extLst>
          </p:nvPr>
        </p:nvGraphicFramePr>
        <p:xfrm>
          <a:off x="3977085" y="3569363"/>
          <a:ext cx="93814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38140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Top </a:t>
                      </a:r>
                      <a:r>
                        <a:rPr lang="en-PH" b="1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endParaRPr lang="en-PH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graphicFrame>
        <p:nvGraphicFramePr>
          <p:cNvPr id="4" name="Table 35">
            <a:extLst>
              <a:ext uri="{FF2B5EF4-FFF2-40B4-BE49-F238E27FC236}">
                <a16:creationId xmlns:a16="http://schemas.microsoft.com/office/drawing/2014/main" id="{8CD56C08-C521-7908-5B45-3C99DDE0ED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6520821"/>
              </p:ext>
            </p:extLst>
          </p:nvPr>
        </p:nvGraphicFramePr>
        <p:xfrm>
          <a:off x="3975947" y="3011739"/>
          <a:ext cx="93814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38140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Top </a:t>
                      </a:r>
                      <a:r>
                        <a:rPr lang="en-PH" b="1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endParaRPr lang="en-PH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graphicFrame>
        <p:nvGraphicFramePr>
          <p:cNvPr id="6" name="Table 35">
            <a:extLst>
              <a:ext uri="{FF2B5EF4-FFF2-40B4-BE49-F238E27FC236}">
                <a16:creationId xmlns:a16="http://schemas.microsoft.com/office/drawing/2014/main" id="{D11A5CEA-0A3A-9AF2-26DA-BB8065F422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8319891"/>
              </p:ext>
            </p:extLst>
          </p:nvPr>
        </p:nvGraphicFramePr>
        <p:xfrm>
          <a:off x="3975947" y="2405334"/>
          <a:ext cx="93814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38140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Top </a:t>
                      </a:r>
                      <a:r>
                        <a:rPr lang="en-PH" b="1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endParaRPr lang="en-PH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8361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7" grpId="0"/>
      <p:bldP spid="38" grpId="0"/>
      <p:bldP spid="4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4E3A8C-3D7B-E414-866B-74A374903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32C4-3CB9-A713-C61D-15990A5F29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Pop operation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EB4BD1-A253-AD6E-47CA-CDEB7621FF02}"/>
              </a:ext>
            </a:extLst>
          </p:cNvPr>
          <p:cNvSpPr txBox="1"/>
          <p:nvPr/>
        </p:nvSpPr>
        <p:spPr>
          <a:xfrm>
            <a:off x="609600" y="5372418"/>
            <a:ext cx="109728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Last In First Out (LIFO). </a:t>
            </a:r>
            <a:r>
              <a:rPr lang="en-PH" sz="2500" dirty="0">
                <a:solidFill>
                  <a:schemeClr val="bg1"/>
                </a:solidFill>
              </a:rPr>
              <a:t>The last element that is inserted (push) will be the first element that will be removed (pop)</a:t>
            </a:r>
          </a:p>
        </p:txBody>
      </p:sp>
      <p:graphicFrame>
        <p:nvGraphicFramePr>
          <p:cNvPr id="8" name="Table 31">
            <a:extLst>
              <a:ext uri="{FF2B5EF4-FFF2-40B4-BE49-F238E27FC236}">
                <a16:creationId xmlns:a16="http://schemas.microsoft.com/office/drawing/2014/main" id="{9DD436CF-6927-A6F3-AF87-BBEE34985FC5}"/>
              </a:ext>
            </a:extLst>
          </p:cNvPr>
          <p:cNvGraphicFramePr>
            <a:graphicFrameLocks noGrp="1"/>
          </p:cNvGraphicFramePr>
          <p:nvPr/>
        </p:nvGraphicFramePr>
        <p:xfrm>
          <a:off x="5021592" y="2278106"/>
          <a:ext cx="2037080" cy="23481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7080">
                  <a:extLst>
                    <a:ext uri="{9D8B030D-6E8A-4147-A177-3AD203B41FA5}">
                      <a16:colId xmlns:a16="http://schemas.microsoft.com/office/drawing/2014/main" val="1867406527"/>
                    </a:ext>
                  </a:extLst>
                </a:gridCol>
              </a:tblGrid>
              <a:tr h="587029"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7862470"/>
                  </a:ext>
                </a:extLst>
              </a:tr>
              <a:tr h="587029"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9772172"/>
                  </a:ext>
                </a:extLst>
              </a:tr>
              <a:tr h="587029"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2862954"/>
                  </a:ext>
                </a:extLst>
              </a:tr>
              <a:tr h="587029"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6599522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1D74341B-7B28-D386-B516-D6E229DDEF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7286139" y="4080301"/>
            <a:ext cx="545921" cy="5459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A1DACAC-C7DA-CC49-AEBB-D5F2A4FFBCD5}"/>
              </a:ext>
            </a:extLst>
          </p:cNvPr>
          <p:cNvSpPr txBox="1"/>
          <p:nvPr/>
        </p:nvSpPr>
        <p:spPr>
          <a:xfrm>
            <a:off x="5462282" y="4117982"/>
            <a:ext cx="1155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b="1" dirty="0">
                <a:solidFill>
                  <a:srgbClr val="00B050"/>
                </a:solidFill>
              </a:rPr>
              <a:t>Blue Shirt</a:t>
            </a:r>
          </a:p>
        </p:txBody>
      </p:sp>
      <p:pic>
        <p:nvPicPr>
          <p:cNvPr id="12" name="Picture 11" descr="A picture containing shirt&#10;&#10;Description automatically generated">
            <a:extLst>
              <a:ext uri="{FF2B5EF4-FFF2-40B4-BE49-F238E27FC236}">
                <a16:creationId xmlns:a16="http://schemas.microsoft.com/office/drawing/2014/main" id="{3C777A8D-BA9D-8DEA-2767-5571EF1F11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7271407" y="3481007"/>
            <a:ext cx="545921" cy="53918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5881B8A-955A-1A76-9612-A5CA974275A0}"/>
              </a:ext>
            </a:extLst>
          </p:cNvPr>
          <p:cNvSpPr txBox="1"/>
          <p:nvPr/>
        </p:nvSpPr>
        <p:spPr>
          <a:xfrm>
            <a:off x="5462282" y="3530376"/>
            <a:ext cx="1155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b="1" dirty="0">
                <a:solidFill>
                  <a:srgbClr val="00B050"/>
                </a:solidFill>
              </a:rPr>
              <a:t>Red Shirt</a:t>
            </a:r>
          </a:p>
        </p:txBody>
      </p:sp>
      <p:pic>
        <p:nvPicPr>
          <p:cNvPr id="14" name="Picture 13" descr="Diagram&#10;&#10;Description automatically generated with low confidence">
            <a:extLst>
              <a:ext uri="{FF2B5EF4-FFF2-40B4-BE49-F238E27FC236}">
                <a16:creationId xmlns:a16="http://schemas.microsoft.com/office/drawing/2014/main" id="{80277B7A-0C3E-C1BF-0D8F-13ABA4B19F2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7271407" y="2874972"/>
            <a:ext cx="545921" cy="54592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73D4026-F887-3E01-F50A-2467CCB4B490}"/>
              </a:ext>
            </a:extLst>
          </p:cNvPr>
          <p:cNvSpPr txBox="1"/>
          <p:nvPr/>
        </p:nvSpPr>
        <p:spPr>
          <a:xfrm>
            <a:off x="5333888" y="3000168"/>
            <a:ext cx="1417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b="1" dirty="0">
                <a:solidFill>
                  <a:srgbClr val="00B050"/>
                </a:solidFill>
              </a:rPr>
              <a:t>Yellow Shirt</a:t>
            </a:r>
          </a:p>
        </p:txBody>
      </p:sp>
      <p:pic>
        <p:nvPicPr>
          <p:cNvPr id="16" name="Picture 15" descr="Diagram&#10;&#10;Description automatically generated">
            <a:extLst>
              <a:ext uri="{FF2B5EF4-FFF2-40B4-BE49-F238E27FC236}">
                <a16:creationId xmlns:a16="http://schemas.microsoft.com/office/drawing/2014/main" id="{250A8A6C-9722-0103-92F6-628F0942519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7308773" y="2254942"/>
            <a:ext cx="500655" cy="54592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F05E9DC-A767-0690-D2A5-F02CF58FC0D4}"/>
              </a:ext>
            </a:extLst>
          </p:cNvPr>
          <p:cNvSpPr txBox="1"/>
          <p:nvPr/>
        </p:nvSpPr>
        <p:spPr>
          <a:xfrm>
            <a:off x="5344055" y="2405334"/>
            <a:ext cx="1417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b="1" dirty="0">
                <a:solidFill>
                  <a:srgbClr val="00B050"/>
                </a:solidFill>
              </a:rPr>
              <a:t>Green Shirt</a:t>
            </a:r>
          </a:p>
        </p:txBody>
      </p:sp>
      <p:graphicFrame>
        <p:nvGraphicFramePr>
          <p:cNvPr id="3" name="Table 35">
            <a:extLst>
              <a:ext uri="{FF2B5EF4-FFF2-40B4-BE49-F238E27FC236}">
                <a16:creationId xmlns:a16="http://schemas.microsoft.com/office/drawing/2014/main" id="{A33456A6-FA07-8940-E94F-3F0D42B58B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8658738"/>
              </p:ext>
            </p:extLst>
          </p:nvPr>
        </p:nvGraphicFramePr>
        <p:xfrm>
          <a:off x="4083655" y="2405334"/>
          <a:ext cx="837678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37678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Top </a:t>
                      </a:r>
                      <a:r>
                        <a:rPr lang="en-PH" b="1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endParaRPr lang="en-PH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graphicFrame>
        <p:nvGraphicFramePr>
          <p:cNvPr id="4" name="Table 35">
            <a:extLst>
              <a:ext uri="{FF2B5EF4-FFF2-40B4-BE49-F238E27FC236}">
                <a16:creationId xmlns:a16="http://schemas.microsoft.com/office/drawing/2014/main" id="{5420354F-8204-AA69-7F45-FACF569E7A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0121185"/>
              </p:ext>
            </p:extLst>
          </p:nvPr>
        </p:nvGraphicFramePr>
        <p:xfrm>
          <a:off x="4077547" y="3003740"/>
          <a:ext cx="837678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37678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Top </a:t>
                      </a:r>
                      <a:r>
                        <a:rPr lang="en-PH" b="1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endParaRPr lang="en-PH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graphicFrame>
        <p:nvGraphicFramePr>
          <p:cNvPr id="6" name="Table 35">
            <a:extLst>
              <a:ext uri="{FF2B5EF4-FFF2-40B4-BE49-F238E27FC236}">
                <a16:creationId xmlns:a16="http://schemas.microsoft.com/office/drawing/2014/main" id="{E9562988-FE2A-7F85-2EF9-2A92A26387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2478332"/>
              </p:ext>
            </p:extLst>
          </p:nvPr>
        </p:nvGraphicFramePr>
        <p:xfrm>
          <a:off x="4077547" y="3654427"/>
          <a:ext cx="837678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37678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Top </a:t>
                      </a:r>
                      <a:r>
                        <a:rPr lang="en-PH" b="1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endParaRPr lang="en-PH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graphicFrame>
        <p:nvGraphicFramePr>
          <p:cNvPr id="7" name="Table 35">
            <a:extLst>
              <a:ext uri="{FF2B5EF4-FFF2-40B4-BE49-F238E27FC236}">
                <a16:creationId xmlns:a16="http://schemas.microsoft.com/office/drawing/2014/main" id="{3BCD2905-B738-5200-81C5-3E24EC4E4D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0807769"/>
              </p:ext>
            </p:extLst>
          </p:nvPr>
        </p:nvGraphicFramePr>
        <p:xfrm>
          <a:off x="4082105" y="4193465"/>
          <a:ext cx="837678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37678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Top </a:t>
                      </a:r>
                      <a:r>
                        <a:rPr lang="en-PH" b="1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endParaRPr lang="en-PH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4929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5" grpId="0"/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Autofit/>
          </a:bodyPr>
          <a:lstStyle/>
          <a:p>
            <a:r>
              <a:rPr lang="en-US" sz="5000" b="1" dirty="0">
                <a:solidFill>
                  <a:srgbClr val="00B050"/>
                </a:solidFill>
              </a:rPr>
              <a:t>Types of Stack</a:t>
            </a:r>
            <a:endParaRPr lang="en-PH" sz="5000" dirty="0">
              <a:solidFill>
                <a:srgbClr val="00B050"/>
              </a:solidFill>
            </a:endParaRPr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DEF2D023-8AA3-C0A9-D29B-CBC2D2F1DB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4563861"/>
              </p:ext>
            </p:extLst>
          </p:nvPr>
        </p:nvGraphicFramePr>
        <p:xfrm>
          <a:off x="2540000" y="2687320"/>
          <a:ext cx="8128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02494153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6811302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62508213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643850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>
                          <a:solidFill>
                            <a:srgbClr val="00B050"/>
                          </a:solidFill>
                        </a:rPr>
                        <a:t>Blue Shirt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>
                          <a:solidFill>
                            <a:srgbClr val="00B050"/>
                          </a:solidFill>
                        </a:rPr>
                        <a:t>Red Shirt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>
                          <a:solidFill>
                            <a:srgbClr val="00B050"/>
                          </a:solidFill>
                        </a:rPr>
                        <a:t>Yellow Shirt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>
                          <a:solidFill>
                            <a:srgbClr val="00B050"/>
                          </a:solidFill>
                        </a:rPr>
                        <a:t>Green Shirt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6662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solidFill>
                            <a:srgbClr val="00B050"/>
                          </a:solidFill>
                        </a:rPr>
                        <a:t>3 </a:t>
                      </a:r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(TOP)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5519892"/>
                  </a:ext>
                </a:extLst>
              </a:tr>
            </a:tbl>
          </a:graphicData>
        </a:graphic>
      </p:graphicFrame>
      <p:pic>
        <p:nvPicPr>
          <p:cNvPr id="27" name="Picture 26">
            <a:extLst>
              <a:ext uri="{FF2B5EF4-FFF2-40B4-BE49-F238E27FC236}">
                <a16:creationId xmlns:a16="http://schemas.microsoft.com/office/drawing/2014/main" id="{E749BDAF-05AD-202B-3586-980967612D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259042" y="2090004"/>
            <a:ext cx="545921" cy="545921"/>
          </a:xfrm>
          <a:prstGeom prst="rect">
            <a:avLst/>
          </a:prstGeom>
        </p:spPr>
      </p:pic>
      <p:pic>
        <p:nvPicPr>
          <p:cNvPr id="28" name="Picture 27" descr="A picture containing shirt&#10;&#10;Description automatically generated">
            <a:extLst>
              <a:ext uri="{FF2B5EF4-FFF2-40B4-BE49-F238E27FC236}">
                <a16:creationId xmlns:a16="http://schemas.microsoft.com/office/drawing/2014/main" id="{6BE3D923-EBC4-EEEF-2D1F-D1409C2B1B2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5342255" y="2069574"/>
            <a:ext cx="545921" cy="539180"/>
          </a:xfrm>
          <a:prstGeom prst="rect">
            <a:avLst/>
          </a:prstGeom>
        </p:spPr>
      </p:pic>
      <p:pic>
        <p:nvPicPr>
          <p:cNvPr id="29" name="Picture 28" descr="Diagram&#10;&#10;Description automatically generated with low confidence">
            <a:extLst>
              <a:ext uri="{FF2B5EF4-FFF2-40B4-BE49-F238E27FC236}">
                <a16:creationId xmlns:a16="http://schemas.microsoft.com/office/drawing/2014/main" id="{F0AA8856-CBD9-9170-31D3-E789AC8FE01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7328121" y="2066203"/>
            <a:ext cx="545921" cy="545921"/>
          </a:xfrm>
          <a:prstGeom prst="rect">
            <a:avLst/>
          </a:prstGeom>
        </p:spPr>
      </p:pic>
      <p:pic>
        <p:nvPicPr>
          <p:cNvPr id="30" name="Picture 29" descr="Diagram&#10;&#10;Description automatically generated">
            <a:extLst>
              <a:ext uri="{FF2B5EF4-FFF2-40B4-BE49-F238E27FC236}">
                <a16:creationId xmlns:a16="http://schemas.microsoft.com/office/drawing/2014/main" id="{7FD09284-0307-0253-E160-5FB1B77DF8F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9411334" y="2057096"/>
            <a:ext cx="500655" cy="54592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C9364F7-7C4F-FEDA-9CB1-C2DAF1F559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9168386" y="4166720"/>
            <a:ext cx="545921" cy="545921"/>
          </a:xfrm>
          <a:prstGeom prst="rect">
            <a:avLst/>
          </a:prstGeom>
        </p:spPr>
      </p:pic>
      <p:pic>
        <p:nvPicPr>
          <p:cNvPr id="20" name="Picture 19" descr="A picture containing shirt&#10;&#10;Description automatically generated">
            <a:extLst>
              <a:ext uri="{FF2B5EF4-FFF2-40B4-BE49-F238E27FC236}">
                <a16:creationId xmlns:a16="http://schemas.microsoft.com/office/drawing/2014/main" id="{E1D9E441-E953-D990-5A46-F9EA111F86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7107806" y="4166720"/>
            <a:ext cx="545921" cy="539180"/>
          </a:xfrm>
          <a:prstGeom prst="rect">
            <a:avLst/>
          </a:prstGeom>
        </p:spPr>
      </p:pic>
      <p:pic>
        <p:nvPicPr>
          <p:cNvPr id="21" name="Picture 20" descr="Diagram&#10;&#10;Description automatically generated with low confidence">
            <a:extLst>
              <a:ext uri="{FF2B5EF4-FFF2-40B4-BE49-F238E27FC236}">
                <a16:creationId xmlns:a16="http://schemas.microsoft.com/office/drawing/2014/main" id="{03B4A4D0-9D91-F858-6A43-01C9C236E54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5121940" y="4107636"/>
            <a:ext cx="545921" cy="545921"/>
          </a:xfrm>
          <a:prstGeom prst="rect">
            <a:avLst/>
          </a:prstGeom>
        </p:spPr>
      </p:pic>
      <p:pic>
        <p:nvPicPr>
          <p:cNvPr id="22" name="Picture 21" descr="Diagram&#10;&#10;Description automatically generated">
            <a:extLst>
              <a:ext uri="{FF2B5EF4-FFF2-40B4-BE49-F238E27FC236}">
                <a16:creationId xmlns:a16="http://schemas.microsoft.com/office/drawing/2014/main" id="{0CCFA191-C608-D169-15C5-C918EC16B27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3061360" y="4107637"/>
            <a:ext cx="500655" cy="545921"/>
          </a:xfrm>
          <a:prstGeom prst="rect">
            <a:avLst/>
          </a:prstGeom>
        </p:spPr>
      </p:pic>
      <p:graphicFrame>
        <p:nvGraphicFramePr>
          <p:cNvPr id="23" name="Table 4">
            <a:extLst>
              <a:ext uri="{FF2B5EF4-FFF2-40B4-BE49-F238E27FC236}">
                <a16:creationId xmlns:a16="http://schemas.microsoft.com/office/drawing/2014/main" id="{6026C570-84BC-42C5-D106-80E558F9C3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3003491"/>
              </p:ext>
            </p:extLst>
          </p:nvPr>
        </p:nvGraphicFramePr>
        <p:xfrm>
          <a:off x="2541928" y="4841090"/>
          <a:ext cx="153952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9760">
                  <a:extLst>
                    <a:ext uri="{9D8B030D-6E8A-4147-A177-3AD203B41FA5}">
                      <a16:colId xmlns:a16="http://schemas.microsoft.com/office/drawing/2014/main" val="801851880"/>
                    </a:ext>
                  </a:extLst>
                </a:gridCol>
                <a:gridCol w="769760">
                  <a:extLst>
                    <a:ext uri="{9D8B030D-6E8A-4147-A177-3AD203B41FA5}">
                      <a16:colId xmlns:a16="http://schemas.microsoft.com/office/drawing/2014/main" val="2556904316"/>
                    </a:ext>
                  </a:extLst>
                </a:gridCol>
              </a:tblGrid>
              <a:tr h="217459">
                <a:tc>
                  <a:txBody>
                    <a:bodyPr/>
                    <a:lstStyle/>
                    <a:p>
                      <a:r>
                        <a:rPr lang="en-PH" sz="1500" dirty="0">
                          <a:solidFill>
                            <a:srgbClr val="00B050"/>
                          </a:solidFill>
                        </a:rPr>
                        <a:t>Green Shirt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2822919"/>
                  </a:ext>
                </a:extLst>
              </a:tr>
            </a:tbl>
          </a:graphicData>
        </a:graphic>
      </p:graphicFrame>
      <p:graphicFrame>
        <p:nvGraphicFramePr>
          <p:cNvPr id="25" name="Table 4">
            <a:extLst>
              <a:ext uri="{FF2B5EF4-FFF2-40B4-BE49-F238E27FC236}">
                <a16:creationId xmlns:a16="http://schemas.microsoft.com/office/drawing/2014/main" id="{60AB6F58-861C-9182-7B9F-B4F93AF0DB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0181094"/>
              </p:ext>
            </p:extLst>
          </p:nvPr>
        </p:nvGraphicFramePr>
        <p:xfrm>
          <a:off x="4625141" y="4833875"/>
          <a:ext cx="153952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9760">
                  <a:extLst>
                    <a:ext uri="{9D8B030D-6E8A-4147-A177-3AD203B41FA5}">
                      <a16:colId xmlns:a16="http://schemas.microsoft.com/office/drawing/2014/main" val="801851880"/>
                    </a:ext>
                  </a:extLst>
                </a:gridCol>
                <a:gridCol w="769760">
                  <a:extLst>
                    <a:ext uri="{9D8B030D-6E8A-4147-A177-3AD203B41FA5}">
                      <a16:colId xmlns:a16="http://schemas.microsoft.com/office/drawing/2014/main" val="2556904316"/>
                    </a:ext>
                  </a:extLst>
                </a:gridCol>
              </a:tblGrid>
              <a:tr h="217459">
                <a:tc>
                  <a:txBody>
                    <a:bodyPr/>
                    <a:lstStyle/>
                    <a:p>
                      <a:r>
                        <a:rPr lang="en-PH" sz="1500" dirty="0">
                          <a:solidFill>
                            <a:srgbClr val="00B050"/>
                          </a:solidFill>
                        </a:rPr>
                        <a:t>Yellow Shirt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2822919"/>
                  </a:ext>
                </a:extLst>
              </a:tr>
            </a:tbl>
          </a:graphicData>
        </a:graphic>
      </p:graphicFrame>
      <p:graphicFrame>
        <p:nvGraphicFramePr>
          <p:cNvPr id="32" name="Table 4">
            <a:extLst>
              <a:ext uri="{FF2B5EF4-FFF2-40B4-BE49-F238E27FC236}">
                <a16:creationId xmlns:a16="http://schemas.microsoft.com/office/drawing/2014/main" id="{86DEEAE3-0C1B-D6EC-D680-3D661130B7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47797"/>
              </p:ext>
            </p:extLst>
          </p:nvPr>
        </p:nvGraphicFramePr>
        <p:xfrm>
          <a:off x="6611007" y="4841090"/>
          <a:ext cx="153952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9760">
                  <a:extLst>
                    <a:ext uri="{9D8B030D-6E8A-4147-A177-3AD203B41FA5}">
                      <a16:colId xmlns:a16="http://schemas.microsoft.com/office/drawing/2014/main" val="801851880"/>
                    </a:ext>
                  </a:extLst>
                </a:gridCol>
                <a:gridCol w="769760">
                  <a:extLst>
                    <a:ext uri="{9D8B030D-6E8A-4147-A177-3AD203B41FA5}">
                      <a16:colId xmlns:a16="http://schemas.microsoft.com/office/drawing/2014/main" val="2556904316"/>
                    </a:ext>
                  </a:extLst>
                </a:gridCol>
              </a:tblGrid>
              <a:tr h="217459">
                <a:tc>
                  <a:txBody>
                    <a:bodyPr/>
                    <a:lstStyle/>
                    <a:p>
                      <a:r>
                        <a:rPr lang="en-PH" sz="1500" dirty="0">
                          <a:solidFill>
                            <a:srgbClr val="00B050"/>
                          </a:solidFill>
                        </a:rPr>
                        <a:t>Red Shirt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2822919"/>
                  </a:ext>
                </a:extLst>
              </a:tr>
            </a:tbl>
          </a:graphicData>
        </a:graphic>
      </p:graphicFrame>
      <p:graphicFrame>
        <p:nvGraphicFramePr>
          <p:cNvPr id="33" name="Table 4">
            <a:extLst>
              <a:ext uri="{FF2B5EF4-FFF2-40B4-BE49-F238E27FC236}">
                <a16:creationId xmlns:a16="http://schemas.microsoft.com/office/drawing/2014/main" id="{414406AC-9FAA-D129-00AE-087AD1E5E6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2877418"/>
              </p:ext>
            </p:extLst>
          </p:nvPr>
        </p:nvGraphicFramePr>
        <p:xfrm>
          <a:off x="8671587" y="4841900"/>
          <a:ext cx="153952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9760">
                  <a:extLst>
                    <a:ext uri="{9D8B030D-6E8A-4147-A177-3AD203B41FA5}">
                      <a16:colId xmlns:a16="http://schemas.microsoft.com/office/drawing/2014/main" val="801851880"/>
                    </a:ext>
                  </a:extLst>
                </a:gridCol>
                <a:gridCol w="769760">
                  <a:extLst>
                    <a:ext uri="{9D8B030D-6E8A-4147-A177-3AD203B41FA5}">
                      <a16:colId xmlns:a16="http://schemas.microsoft.com/office/drawing/2014/main" val="2556904316"/>
                    </a:ext>
                  </a:extLst>
                </a:gridCol>
              </a:tblGrid>
              <a:tr h="217459">
                <a:tc>
                  <a:txBody>
                    <a:bodyPr/>
                    <a:lstStyle/>
                    <a:p>
                      <a:r>
                        <a:rPr lang="en-PH" sz="1500" dirty="0">
                          <a:solidFill>
                            <a:srgbClr val="00B050"/>
                          </a:solidFill>
                        </a:rPr>
                        <a:t>Blue Shirt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2822919"/>
                  </a:ext>
                </a:extLst>
              </a:tr>
            </a:tbl>
          </a:graphicData>
        </a:graphic>
      </p:graphicFrame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564C7D6-D961-7225-0665-9A4CBBC8C4BB}"/>
              </a:ext>
            </a:extLst>
          </p:cNvPr>
          <p:cNvCxnSpPr>
            <a:cxnSpLocks/>
            <a:stCxn id="23" idx="3"/>
            <a:endCxn id="25" idx="1"/>
          </p:cNvCxnSpPr>
          <p:nvPr/>
        </p:nvCxnSpPr>
        <p:spPr>
          <a:xfrm flipV="1">
            <a:off x="4081448" y="5108195"/>
            <a:ext cx="543693" cy="7215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0CC1C04-1AC6-E5D2-E4DA-A3B3F6D4D325}"/>
              </a:ext>
            </a:extLst>
          </p:cNvPr>
          <p:cNvCxnSpPr>
            <a:cxnSpLocks/>
            <a:stCxn id="25" idx="3"/>
            <a:endCxn id="32" idx="1"/>
          </p:cNvCxnSpPr>
          <p:nvPr/>
        </p:nvCxnSpPr>
        <p:spPr>
          <a:xfrm>
            <a:off x="6164661" y="5108195"/>
            <a:ext cx="446346" cy="7215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BC9B352-5820-1C79-A701-8C01FDE803F3}"/>
              </a:ext>
            </a:extLst>
          </p:cNvPr>
          <p:cNvCxnSpPr>
            <a:cxnSpLocks/>
            <a:stCxn id="32" idx="3"/>
            <a:endCxn id="33" idx="1"/>
          </p:cNvCxnSpPr>
          <p:nvPr/>
        </p:nvCxnSpPr>
        <p:spPr>
          <a:xfrm>
            <a:off x="8150527" y="5115410"/>
            <a:ext cx="521060" cy="81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37" name="Table 35">
            <a:extLst>
              <a:ext uri="{FF2B5EF4-FFF2-40B4-BE49-F238E27FC236}">
                <a16:creationId xmlns:a16="http://schemas.microsoft.com/office/drawing/2014/main" id="{40490C36-EDD9-FA77-225F-453EABE30D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6141546"/>
              </p:ext>
            </p:extLst>
          </p:nvPr>
        </p:nvGraphicFramePr>
        <p:xfrm>
          <a:off x="2541928" y="5549894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Top (Head)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00E41B63-CC47-83C4-D9BF-573B7FF44A0F}"/>
              </a:ext>
            </a:extLst>
          </p:cNvPr>
          <p:cNvSpPr txBox="1"/>
          <p:nvPr/>
        </p:nvSpPr>
        <p:spPr>
          <a:xfrm>
            <a:off x="189653" y="2635925"/>
            <a:ext cx="2099733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Static Stack</a:t>
            </a:r>
            <a:endParaRPr lang="en-PH" sz="2500" dirty="0">
              <a:solidFill>
                <a:schemeClr val="bg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F211CE5-3E03-0A92-9613-7F3CAAF699FA}"/>
              </a:ext>
            </a:extLst>
          </p:cNvPr>
          <p:cNvSpPr txBox="1"/>
          <p:nvPr/>
        </p:nvSpPr>
        <p:spPr>
          <a:xfrm>
            <a:off x="132080" y="4974430"/>
            <a:ext cx="215730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Dynamic Stack</a:t>
            </a:r>
            <a:endParaRPr lang="en-PH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197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AB551F-7702-BBB1-D337-09FBB9F0F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C4ED9-5E37-78BD-BDFE-B613E1FA70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Autofit/>
          </a:bodyPr>
          <a:lstStyle/>
          <a:p>
            <a:r>
              <a:rPr lang="en-US" sz="5000" b="1" dirty="0">
                <a:solidFill>
                  <a:srgbClr val="00B050"/>
                </a:solidFill>
              </a:rPr>
              <a:t>Types of Stack</a:t>
            </a:r>
            <a:endParaRPr lang="en-PH" sz="5000" dirty="0">
              <a:solidFill>
                <a:srgbClr val="00B050"/>
              </a:solidFill>
            </a:endParaRPr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8AFF3DDF-B821-3787-1333-457CF4EE89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881555"/>
              </p:ext>
            </p:extLst>
          </p:nvPr>
        </p:nvGraphicFramePr>
        <p:xfrm>
          <a:off x="2959947" y="3238285"/>
          <a:ext cx="8128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02494153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6811302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62508213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643850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>
                          <a:solidFill>
                            <a:srgbClr val="00B050"/>
                          </a:solidFill>
                        </a:rPr>
                        <a:t>Blue Shirt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>
                          <a:solidFill>
                            <a:srgbClr val="00B050"/>
                          </a:solidFill>
                        </a:rPr>
                        <a:t>Red Shirt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>
                          <a:solidFill>
                            <a:srgbClr val="00B050"/>
                          </a:solidFill>
                        </a:rPr>
                        <a:t>Yellow Shirt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>
                          <a:solidFill>
                            <a:srgbClr val="00B050"/>
                          </a:solidFill>
                        </a:rPr>
                        <a:t>Green Shirt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6662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solidFill>
                            <a:srgbClr val="00B050"/>
                          </a:solidFill>
                        </a:rPr>
                        <a:t>3 </a:t>
                      </a:r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(TOP)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5519892"/>
                  </a:ext>
                </a:extLst>
              </a:tr>
            </a:tbl>
          </a:graphicData>
        </a:graphic>
      </p:graphicFrame>
      <p:pic>
        <p:nvPicPr>
          <p:cNvPr id="27" name="Picture 26">
            <a:extLst>
              <a:ext uri="{FF2B5EF4-FFF2-40B4-BE49-F238E27FC236}">
                <a16:creationId xmlns:a16="http://schemas.microsoft.com/office/drawing/2014/main" id="{EAD930DD-FC98-445F-52EF-9C19DBAD3D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678989" y="2640969"/>
            <a:ext cx="545921" cy="545921"/>
          </a:xfrm>
          <a:prstGeom prst="rect">
            <a:avLst/>
          </a:prstGeom>
        </p:spPr>
      </p:pic>
      <p:pic>
        <p:nvPicPr>
          <p:cNvPr id="28" name="Picture 27" descr="A picture containing shirt&#10;&#10;Description automatically generated">
            <a:extLst>
              <a:ext uri="{FF2B5EF4-FFF2-40B4-BE49-F238E27FC236}">
                <a16:creationId xmlns:a16="http://schemas.microsoft.com/office/drawing/2014/main" id="{2F7E7774-1A1A-66A3-9B9A-EAE4D0F620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5762202" y="2620539"/>
            <a:ext cx="545921" cy="539180"/>
          </a:xfrm>
          <a:prstGeom prst="rect">
            <a:avLst/>
          </a:prstGeom>
        </p:spPr>
      </p:pic>
      <p:pic>
        <p:nvPicPr>
          <p:cNvPr id="29" name="Picture 28" descr="Diagram&#10;&#10;Description automatically generated with low confidence">
            <a:extLst>
              <a:ext uri="{FF2B5EF4-FFF2-40B4-BE49-F238E27FC236}">
                <a16:creationId xmlns:a16="http://schemas.microsoft.com/office/drawing/2014/main" id="{54425CD2-9384-AC85-D362-C50EB1C5705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7748068" y="2617168"/>
            <a:ext cx="545921" cy="545921"/>
          </a:xfrm>
          <a:prstGeom prst="rect">
            <a:avLst/>
          </a:prstGeom>
        </p:spPr>
      </p:pic>
      <p:pic>
        <p:nvPicPr>
          <p:cNvPr id="30" name="Picture 29" descr="Diagram&#10;&#10;Description automatically generated">
            <a:extLst>
              <a:ext uri="{FF2B5EF4-FFF2-40B4-BE49-F238E27FC236}">
                <a16:creationId xmlns:a16="http://schemas.microsoft.com/office/drawing/2014/main" id="{A0F19902-B11E-1CC1-061B-3C4EB82C218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9831281" y="2608061"/>
            <a:ext cx="500655" cy="545921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CF427D7E-11FF-B30F-BC12-710E3648059C}"/>
              </a:ext>
            </a:extLst>
          </p:cNvPr>
          <p:cNvSpPr txBox="1"/>
          <p:nvPr/>
        </p:nvSpPr>
        <p:spPr>
          <a:xfrm>
            <a:off x="609600" y="3186890"/>
            <a:ext cx="2099733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Static Stack</a:t>
            </a:r>
            <a:endParaRPr lang="en-PH" sz="25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09F5F7-87F6-057C-378A-C381E2C4A15D}"/>
              </a:ext>
            </a:extLst>
          </p:cNvPr>
          <p:cNvSpPr txBox="1"/>
          <p:nvPr/>
        </p:nvSpPr>
        <p:spPr>
          <a:xfrm>
            <a:off x="609600" y="5372418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A </a:t>
            </a:r>
            <a:r>
              <a:rPr lang="en-PH" sz="2500" b="1" dirty="0">
                <a:solidFill>
                  <a:schemeClr val="bg1"/>
                </a:solidFill>
              </a:rPr>
              <a:t>static stack </a:t>
            </a:r>
            <a:r>
              <a:rPr lang="en-PH" sz="2500" dirty="0">
                <a:solidFill>
                  <a:schemeClr val="bg1"/>
                </a:solidFill>
              </a:rPr>
              <a:t>is </a:t>
            </a:r>
            <a:r>
              <a:rPr lang="en-PH" sz="2500" b="1" dirty="0">
                <a:solidFill>
                  <a:schemeClr val="bg1"/>
                </a:solidFill>
              </a:rPr>
              <a:t>fixed in size </a:t>
            </a:r>
            <a:r>
              <a:rPr lang="en-PH" sz="2500" dirty="0">
                <a:solidFill>
                  <a:schemeClr val="bg1"/>
                </a:solidFill>
              </a:rPr>
              <a:t>and can be implemented using an </a:t>
            </a:r>
            <a:r>
              <a:rPr lang="en-PH" sz="2500" b="1" dirty="0">
                <a:solidFill>
                  <a:schemeClr val="bg1"/>
                </a:solidFill>
              </a:rPr>
              <a:t>array</a:t>
            </a:r>
          </a:p>
        </p:txBody>
      </p:sp>
    </p:spTree>
    <p:extLst>
      <p:ext uri="{BB962C8B-B14F-4D97-AF65-F5344CB8AC3E}">
        <p14:creationId xmlns:p14="http://schemas.microsoft.com/office/powerpoint/2010/main" val="3304932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FB0188-6C54-E608-2C1A-28A592B4A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AFE5B-7A05-C2F3-B7B2-C3613AEDA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Autofit/>
          </a:bodyPr>
          <a:lstStyle/>
          <a:p>
            <a:r>
              <a:rPr lang="en-US" sz="5000" b="1" dirty="0">
                <a:solidFill>
                  <a:srgbClr val="00B050"/>
                </a:solidFill>
              </a:rPr>
              <a:t>Types of Stack</a:t>
            </a:r>
            <a:endParaRPr lang="en-PH" sz="5000" dirty="0">
              <a:solidFill>
                <a:srgbClr val="00B050"/>
              </a:solidFill>
            </a:endParaRPr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55F9DF6E-C24A-2689-9FED-AB4207A93C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7276463"/>
              </p:ext>
            </p:extLst>
          </p:nvPr>
        </p:nvGraphicFramePr>
        <p:xfrm>
          <a:off x="2959947" y="2875027"/>
          <a:ext cx="8128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02494153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6811302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62508213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643850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>
                          <a:solidFill>
                            <a:srgbClr val="00B050"/>
                          </a:solidFill>
                        </a:rPr>
                        <a:t>Blue Shirt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>
                          <a:solidFill>
                            <a:srgbClr val="00B050"/>
                          </a:solidFill>
                        </a:rPr>
                        <a:t>Red Shirt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>
                          <a:solidFill>
                            <a:srgbClr val="00B050"/>
                          </a:solidFill>
                        </a:rPr>
                        <a:t>Yellow Shirt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>
                          <a:solidFill>
                            <a:srgbClr val="00B050"/>
                          </a:solidFill>
                        </a:rPr>
                        <a:t>Green Shirt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6662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solidFill>
                            <a:srgbClr val="00B050"/>
                          </a:solidFill>
                        </a:rPr>
                        <a:t>3 </a:t>
                      </a:r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(TOP)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5519892"/>
                  </a:ext>
                </a:extLst>
              </a:tr>
            </a:tbl>
          </a:graphicData>
        </a:graphic>
      </p:graphicFrame>
      <p:pic>
        <p:nvPicPr>
          <p:cNvPr id="27" name="Picture 26">
            <a:extLst>
              <a:ext uri="{FF2B5EF4-FFF2-40B4-BE49-F238E27FC236}">
                <a16:creationId xmlns:a16="http://schemas.microsoft.com/office/drawing/2014/main" id="{CE7E2003-D217-B74F-ED22-2870973E40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678989" y="2277711"/>
            <a:ext cx="545921" cy="545921"/>
          </a:xfrm>
          <a:prstGeom prst="rect">
            <a:avLst/>
          </a:prstGeom>
        </p:spPr>
      </p:pic>
      <p:pic>
        <p:nvPicPr>
          <p:cNvPr id="28" name="Picture 27" descr="A picture containing shirt&#10;&#10;Description automatically generated">
            <a:extLst>
              <a:ext uri="{FF2B5EF4-FFF2-40B4-BE49-F238E27FC236}">
                <a16:creationId xmlns:a16="http://schemas.microsoft.com/office/drawing/2014/main" id="{2F8EFBBA-0185-113A-A944-3A55759E7A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5762202" y="2257281"/>
            <a:ext cx="545921" cy="539180"/>
          </a:xfrm>
          <a:prstGeom prst="rect">
            <a:avLst/>
          </a:prstGeom>
        </p:spPr>
      </p:pic>
      <p:pic>
        <p:nvPicPr>
          <p:cNvPr id="29" name="Picture 28" descr="Diagram&#10;&#10;Description automatically generated with low confidence">
            <a:extLst>
              <a:ext uri="{FF2B5EF4-FFF2-40B4-BE49-F238E27FC236}">
                <a16:creationId xmlns:a16="http://schemas.microsoft.com/office/drawing/2014/main" id="{17E59954-21A4-3206-2346-67C016077D7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7748068" y="2253910"/>
            <a:ext cx="545921" cy="545921"/>
          </a:xfrm>
          <a:prstGeom prst="rect">
            <a:avLst/>
          </a:prstGeom>
        </p:spPr>
      </p:pic>
      <p:pic>
        <p:nvPicPr>
          <p:cNvPr id="30" name="Picture 29" descr="Diagram&#10;&#10;Description automatically generated">
            <a:extLst>
              <a:ext uri="{FF2B5EF4-FFF2-40B4-BE49-F238E27FC236}">
                <a16:creationId xmlns:a16="http://schemas.microsoft.com/office/drawing/2014/main" id="{05B351FD-D727-20F6-2680-9FFB5C26ACC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9831281" y="2244803"/>
            <a:ext cx="500655" cy="545921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84463D56-4764-D982-2B60-DA6105A7C810}"/>
              </a:ext>
            </a:extLst>
          </p:cNvPr>
          <p:cNvSpPr txBox="1"/>
          <p:nvPr/>
        </p:nvSpPr>
        <p:spPr>
          <a:xfrm>
            <a:off x="609600" y="3186890"/>
            <a:ext cx="2099733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Static Stack</a:t>
            </a:r>
            <a:endParaRPr lang="en-PH" sz="25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1BF537-3ED9-7B6A-7BA7-F59CFA59BBBB}"/>
              </a:ext>
            </a:extLst>
          </p:cNvPr>
          <p:cNvSpPr txBox="1"/>
          <p:nvPr/>
        </p:nvSpPr>
        <p:spPr>
          <a:xfrm>
            <a:off x="609600" y="5474018"/>
            <a:ext cx="109728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Because static stacks are </a:t>
            </a:r>
            <a:r>
              <a:rPr lang="en-PH" sz="2500" b="1" dirty="0">
                <a:solidFill>
                  <a:schemeClr val="bg1"/>
                </a:solidFill>
              </a:rPr>
              <a:t>fixed</a:t>
            </a:r>
            <a:r>
              <a:rPr lang="en-PH" sz="2500" dirty="0">
                <a:solidFill>
                  <a:schemeClr val="bg1"/>
                </a:solidFill>
              </a:rPr>
              <a:t>, we need to create another stack if we want to increase the number of items/elements  </a:t>
            </a:r>
            <a:endParaRPr lang="en-PH" sz="2500" b="1" dirty="0">
              <a:solidFill>
                <a:schemeClr val="bg1"/>
              </a:solidFill>
            </a:endParaRPr>
          </a:p>
        </p:txBody>
      </p:sp>
      <p:graphicFrame>
        <p:nvGraphicFramePr>
          <p:cNvPr id="4" name="Table 10">
            <a:extLst>
              <a:ext uri="{FF2B5EF4-FFF2-40B4-BE49-F238E27FC236}">
                <a16:creationId xmlns:a16="http://schemas.microsoft.com/office/drawing/2014/main" id="{3F63745B-8CB7-6674-5FE7-B322B237F5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1378864"/>
              </p:ext>
            </p:extLst>
          </p:nvPr>
        </p:nvGraphicFramePr>
        <p:xfrm>
          <a:off x="2959947" y="4473943"/>
          <a:ext cx="8128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02494153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36811302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62508213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6438502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1011520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>
                          <a:solidFill>
                            <a:srgbClr val="00B050"/>
                          </a:solidFill>
                        </a:rPr>
                        <a:t>Blue Shirt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>
                          <a:solidFill>
                            <a:srgbClr val="00B050"/>
                          </a:solidFill>
                        </a:rPr>
                        <a:t>Red Shirt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>
                          <a:solidFill>
                            <a:srgbClr val="00B050"/>
                          </a:solidFill>
                        </a:rPr>
                        <a:t>Yellow Shirt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>
                          <a:solidFill>
                            <a:srgbClr val="00B050"/>
                          </a:solidFill>
                        </a:rPr>
                        <a:t>Green Shirt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>
                          <a:solidFill>
                            <a:srgbClr val="00B050"/>
                          </a:solidFill>
                        </a:rPr>
                        <a:t>White Shirt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6662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solidFill>
                            <a:srgbClr val="00B050"/>
                          </a:solidFill>
                        </a:rPr>
                        <a:t>3 </a:t>
                      </a:r>
                      <a:endParaRPr lang="en-PH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>
                          <a:solidFill>
                            <a:srgbClr val="00B050"/>
                          </a:solidFill>
                        </a:rPr>
                        <a:t>4 </a:t>
                      </a:r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(TOP)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5519892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B8FFDF9D-45AE-2EF5-6171-5A9F8BB737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678989" y="3876627"/>
            <a:ext cx="545921" cy="545921"/>
          </a:xfrm>
          <a:prstGeom prst="rect">
            <a:avLst/>
          </a:prstGeom>
        </p:spPr>
      </p:pic>
      <p:pic>
        <p:nvPicPr>
          <p:cNvPr id="6" name="Picture 5" descr="A picture containing shirt&#10;&#10;Description automatically generated">
            <a:extLst>
              <a:ext uri="{FF2B5EF4-FFF2-40B4-BE49-F238E27FC236}">
                <a16:creationId xmlns:a16="http://schemas.microsoft.com/office/drawing/2014/main" id="{8442E6B6-6A36-7D62-6A1E-DF0ECC23BB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5762202" y="3856197"/>
            <a:ext cx="545921" cy="539180"/>
          </a:xfrm>
          <a:prstGeom prst="rect">
            <a:avLst/>
          </a:prstGeom>
        </p:spPr>
      </p:pic>
      <p:pic>
        <p:nvPicPr>
          <p:cNvPr id="7" name="Picture 6" descr="Diagram&#10;&#10;Description automatically generated with low confidence">
            <a:extLst>
              <a:ext uri="{FF2B5EF4-FFF2-40B4-BE49-F238E27FC236}">
                <a16:creationId xmlns:a16="http://schemas.microsoft.com/office/drawing/2014/main" id="{4A4E9B5F-CE56-7DD4-5ED3-633EE40D11D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7748068" y="3852826"/>
            <a:ext cx="545921" cy="545921"/>
          </a:xfrm>
          <a:prstGeom prst="rect">
            <a:avLst/>
          </a:prstGeom>
        </p:spPr>
      </p:pic>
      <p:pic>
        <p:nvPicPr>
          <p:cNvPr id="8" name="Picture 7" descr="Diagram&#10;&#10;Description automatically generated">
            <a:extLst>
              <a:ext uri="{FF2B5EF4-FFF2-40B4-BE49-F238E27FC236}">
                <a16:creationId xmlns:a16="http://schemas.microsoft.com/office/drawing/2014/main" id="{3B94730C-345E-8AD0-512B-1AE75D62C511}"/>
              </a:ext>
            </a:extLst>
          </p:cNvPr>
          <p:cNvPicPr>
            <a:picLocks noChangeAspect="1"/>
          </p:cNvPicPr>
          <p:nvPr/>
        </p:nvPicPr>
        <p:blipFill>
          <a:blip r:embed="rId9">
            <a:biLevel thresh="25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9831281" y="3843719"/>
            <a:ext cx="500655" cy="545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789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959965-3F24-4DC7-CD30-D67026F7A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777FB-1AA7-9110-CD92-FBD0F59E06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Autofit/>
          </a:bodyPr>
          <a:lstStyle/>
          <a:p>
            <a:r>
              <a:rPr lang="en-US" sz="5000" b="1" dirty="0">
                <a:solidFill>
                  <a:srgbClr val="00B050"/>
                </a:solidFill>
              </a:rPr>
              <a:t>Types of Stack</a:t>
            </a:r>
            <a:endParaRPr lang="en-PH" sz="5000" dirty="0">
              <a:solidFill>
                <a:srgbClr val="00B05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337AE9-A850-AA3A-C7BE-E5D1CED6DA37}"/>
              </a:ext>
            </a:extLst>
          </p:cNvPr>
          <p:cNvSpPr txBox="1"/>
          <p:nvPr/>
        </p:nvSpPr>
        <p:spPr>
          <a:xfrm>
            <a:off x="609600" y="5372418"/>
            <a:ext cx="109728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In contrast, a </a:t>
            </a:r>
            <a:r>
              <a:rPr lang="en-PH" sz="2500" b="1" dirty="0">
                <a:solidFill>
                  <a:schemeClr val="bg1"/>
                </a:solidFill>
              </a:rPr>
              <a:t>dynamic stack can grow in size </a:t>
            </a:r>
            <a:r>
              <a:rPr lang="en-PH" sz="2500" dirty="0">
                <a:solidFill>
                  <a:schemeClr val="bg1"/>
                </a:solidFill>
              </a:rPr>
              <a:t>and can be implemented using a </a:t>
            </a:r>
            <a:r>
              <a:rPr lang="en-PH" sz="2500" b="1" dirty="0">
                <a:solidFill>
                  <a:schemeClr val="bg1"/>
                </a:solidFill>
              </a:rPr>
              <a:t>linked list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C4F74B-4B3E-88F0-0D97-871C965153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9645906" y="2561440"/>
            <a:ext cx="545921" cy="545921"/>
          </a:xfrm>
          <a:prstGeom prst="rect">
            <a:avLst/>
          </a:prstGeom>
        </p:spPr>
      </p:pic>
      <p:pic>
        <p:nvPicPr>
          <p:cNvPr id="5" name="Picture 4" descr="A picture containing shirt&#10;&#10;Description automatically generated">
            <a:extLst>
              <a:ext uri="{FF2B5EF4-FFF2-40B4-BE49-F238E27FC236}">
                <a16:creationId xmlns:a16="http://schemas.microsoft.com/office/drawing/2014/main" id="{57B8B927-00F2-51C0-F43C-8905C3A689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7585326" y="2561440"/>
            <a:ext cx="545921" cy="539180"/>
          </a:xfrm>
          <a:prstGeom prst="rect">
            <a:avLst/>
          </a:prstGeom>
        </p:spPr>
      </p:pic>
      <p:pic>
        <p:nvPicPr>
          <p:cNvPr id="6" name="Picture 5" descr="Diagram&#10;&#10;Description automatically generated with low confidence">
            <a:extLst>
              <a:ext uri="{FF2B5EF4-FFF2-40B4-BE49-F238E27FC236}">
                <a16:creationId xmlns:a16="http://schemas.microsoft.com/office/drawing/2014/main" id="{D32C6683-96D6-DC8A-5E6F-75318FE4379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5599460" y="2502356"/>
            <a:ext cx="545921" cy="545921"/>
          </a:xfrm>
          <a:prstGeom prst="rect">
            <a:avLst/>
          </a:prstGeom>
        </p:spPr>
      </p:pic>
      <p:pic>
        <p:nvPicPr>
          <p:cNvPr id="7" name="Picture 6" descr="Diagram&#10;&#10;Description automatically generated">
            <a:extLst>
              <a:ext uri="{FF2B5EF4-FFF2-40B4-BE49-F238E27FC236}">
                <a16:creationId xmlns:a16="http://schemas.microsoft.com/office/drawing/2014/main" id="{FEBA43E9-84EA-BFE4-51F5-695849049D4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3538880" y="2502357"/>
            <a:ext cx="500655" cy="545921"/>
          </a:xfrm>
          <a:prstGeom prst="rect">
            <a:avLst/>
          </a:prstGeom>
        </p:spPr>
      </p:pic>
      <p:graphicFrame>
        <p:nvGraphicFramePr>
          <p:cNvPr id="8" name="Table 4">
            <a:extLst>
              <a:ext uri="{FF2B5EF4-FFF2-40B4-BE49-F238E27FC236}">
                <a16:creationId xmlns:a16="http://schemas.microsoft.com/office/drawing/2014/main" id="{05BB13CC-1E6B-36DB-66E1-0ACEACA9DD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4908199"/>
              </p:ext>
            </p:extLst>
          </p:nvPr>
        </p:nvGraphicFramePr>
        <p:xfrm>
          <a:off x="3019448" y="3235810"/>
          <a:ext cx="153952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9760">
                  <a:extLst>
                    <a:ext uri="{9D8B030D-6E8A-4147-A177-3AD203B41FA5}">
                      <a16:colId xmlns:a16="http://schemas.microsoft.com/office/drawing/2014/main" val="801851880"/>
                    </a:ext>
                  </a:extLst>
                </a:gridCol>
                <a:gridCol w="769760">
                  <a:extLst>
                    <a:ext uri="{9D8B030D-6E8A-4147-A177-3AD203B41FA5}">
                      <a16:colId xmlns:a16="http://schemas.microsoft.com/office/drawing/2014/main" val="2556904316"/>
                    </a:ext>
                  </a:extLst>
                </a:gridCol>
              </a:tblGrid>
              <a:tr h="217459">
                <a:tc>
                  <a:txBody>
                    <a:bodyPr/>
                    <a:lstStyle/>
                    <a:p>
                      <a:r>
                        <a:rPr lang="en-PH" sz="1500" dirty="0">
                          <a:solidFill>
                            <a:srgbClr val="00B050"/>
                          </a:solidFill>
                        </a:rPr>
                        <a:t>Green Shirt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2822919"/>
                  </a:ext>
                </a:extLst>
              </a:tr>
            </a:tbl>
          </a:graphicData>
        </a:graphic>
      </p:graphicFrame>
      <p:graphicFrame>
        <p:nvGraphicFramePr>
          <p:cNvPr id="9" name="Table 4">
            <a:extLst>
              <a:ext uri="{FF2B5EF4-FFF2-40B4-BE49-F238E27FC236}">
                <a16:creationId xmlns:a16="http://schemas.microsoft.com/office/drawing/2014/main" id="{81E01720-2B29-E84A-50C0-B47CC10CD9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4279814"/>
              </p:ext>
            </p:extLst>
          </p:nvPr>
        </p:nvGraphicFramePr>
        <p:xfrm>
          <a:off x="5102661" y="3228595"/>
          <a:ext cx="153952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9760">
                  <a:extLst>
                    <a:ext uri="{9D8B030D-6E8A-4147-A177-3AD203B41FA5}">
                      <a16:colId xmlns:a16="http://schemas.microsoft.com/office/drawing/2014/main" val="801851880"/>
                    </a:ext>
                  </a:extLst>
                </a:gridCol>
                <a:gridCol w="769760">
                  <a:extLst>
                    <a:ext uri="{9D8B030D-6E8A-4147-A177-3AD203B41FA5}">
                      <a16:colId xmlns:a16="http://schemas.microsoft.com/office/drawing/2014/main" val="2556904316"/>
                    </a:ext>
                  </a:extLst>
                </a:gridCol>
              </a:tblGrid>
              <a:tr h="217459">
                <a:tc>
                  <a:txBody>
                    <a:bodyPr/>
                    <a:lstStyle/>
                    <a:p>
                      <a:r>
                        <a:rPr lang="en-PH" sz="1500" dirty="0">
                          <a:solidFill>
                            <a:srgbClr val="00B050"/>
                          </a:solidFill>
                        </a:rPr>
                        <a:t>Yellow Shirt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2822919"/>
                  </a:ext>
                </a:extLst>
              </a:tr>
            </a:tbl>
          </a:graphicData>
        </a:graphic>
      </p:graphicFrame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723FEE26-3631-CCDD-A0B3-2F9A4D3F5C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4473065"/>
              </p:ext>
            </p:extLst>
          </p:nvPr>
        </p:nvGraphicFramePr>
        <p:xfrm>
          <a:off x="7088527" y="3235810"/>
          <a:ext cx="153952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9760">
                  <a:extLst>
                    <a:ext uri="{9D8B030D-6E8A-4147-A177-3AD203B41FA5}">
                      <a16:colId xmlns:a16="http://schemas.microsoft.com/office/drawing/2014/main" val="801851880"/>
                    </a:ext>
                  </a:extLst>
                </a:gridCol>
                <a:gridCol w="769760">
                  <a:extLst>
                    <a:ext uri="{9D8B030D-6E8A-4147-A177-3AD203B41FA5}">
                      <a16:colId xmlns:a16="http://schemas.microsoft.com/office/drawing/2014/main" val="2556904316"/>
                    </a:ext>
                  </a:extLst>
                </a:gridCol>
              </a:tblGrid>
              <a:tr h="217459">
                <a:tc>
                  <a:txBody>
                    <a:bodyPr/>
                    <a:lstStyle/>
                    <a:p>
                      <a:r>
                        <a:rPr lang="en-PH" sz="1500" dirty="0">
                          <a:solidFill>
                            <a:srgbClr val="00B050"/>
                          </a:solidFill>
                        </a:rPr>
                        <a:t>Red Shirt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2822919"/>
                  </a:ext>
                </a:extLst>
              </a:tr>
            </a:tbl>
          </a:graphicData>
        </a:graphic>
      </p:graphicFrame>
      <p:graphicFrame>
        <p:nvGraphicFramePr>
          <p:cNvPr id="12" name="Table 4">
            <a:extLst>
              <a:ext uri="{FF2B5EF4-FFF2-40B4-BE49-F238E27FC236}">
                <a16:creationId xmlns:a16="http://schemas.microsoft.com/office/drawing/2014/main" id="{1823C112-E75B-5655-27DC-D311AB12E9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9131759"/>
              </p:ext>
            </p:extLst>
          </p:nvPr>
        </p:nvGraphicFramePr>
        <p:xfrm>
          <a:off x="9149107" y="3236620"/>
          <a:ext cx="153952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9760">
                  <a:extLst>
                    <a:ext uri="{9D8B030D-6E8A-4147-A177-3AD203B41FA5}">
                      <a16:colId xmlns:a16="http://schemas.microsoft.com/office/drawing/2014/main" val="801851880"/>
                    </a:ext>
                  </a:extLst>
                </a:gridCol>
                <a:gridCol w="769760">
                  <a:extLst>
                    <a:ext uri="{9D8B030D-6E8A-4147-A177-3AD203B41FA5}">
                      <a16:colId xmlns:a16="http://schemas.microsoft.com/office/drawing/2014/main" val="2556904316"/>
                    </a:ext>
                  </a:extLst>
                </a:gridCol>
              </a:tblGrid>
              <a:tr h="217459">
                <a:tc>
                  <a:txBody>
                    <a:bodyPr/>
                    <a:lstStyle/>
                    <a:p>
                      <a:r>
                        <a:rPr lang="en-PH" sz="1500" dirty="0">
                          <a:solidFill>
                            <a:srgbClr val="00B050"/>
                          </a:solidFill>
                        </a:rPr>
                        <a:t>Blue Shirt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2822919"/>
                  </a:ext>
                </a:extLst>
              </a:tr>
            </a:tbl>
          </a:graphicData>
        </a:graphic>
      </p:graphicFrame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E464A51-FA37-5D34-DE0A-CEAA51E7B389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4558968" y="3502915"/>
            <a:ext cx="543693" cy="7215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0BA3FF9-8FA0-C5B5-5620-7FFFFCB3A112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>
            <a:off x="6642181" y="3502915"/>
            <a:ext cx="446346" cy="7215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5B3F68A-0760-C0C2-E6BA-FF9831CA3219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>
            <a:off x="8628047" y="3510130"/>
            <a:ext cx="521060" cy="81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6" name="Table 35">
            <a:extLst>
              <a:ext uri="{FF2B5EF4-FFF2-40B4-BE49-F238E27FC236}">
                <a16:creationId xmlns:a16="http://schemas.microsoft.com/office/drawing/2014/main" id="{E643742D-5D71-1E24-6E9F-38DCC3BD47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0776076"/>
              </p:ext>
            </p:extLst>
          </p:nvPr>
        </p:nvGraphicFramePr>
        <p:xfrm>
          <a:off x="3019448" y="3944614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Top (Head)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4984B6DE-418E-4BEC-6E21-F373B2204A1C}"/>
              </a:ext>
            </a:extLst>
          </p:cNvPr>
          <p:cNvSpPr txBox="1"/>
          <p:nvPr/>
        </p:nvSpPr>
        <p:spPr>
          <a:xfrm>
            <a:off x="609600" y="3300181"/>
            <a:ext cx="215730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Dynamic Stack</a:t>
            </a:r>
            <a:endParaRPr lang="en-PH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12804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D4AF61-5CD9-6995-DFDB-5BEC2336A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C5575-9171-65D9-248C-D7668595B9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Autofit/>
          </a:bodyPr>
          <a:lstStyle/>
          <a:p>
            <a:r>
              <a:rPr lang="en-US" sz="5000" b="1" dirty="0">
                <a:solidFill>
                  <a:srgbClr val="00B050"/>
                </a:solidFill>
              </a:rPr>
              <a:t>Types of Stack</a:t>
            </a:r>
            <a:endParaRPr lang="en-PH" sz="5000" dirty="0">
              <a:solidFill>
                <a:srgbClr val="00B05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70B13A-A203-537B-F7AA-A2A4EBC3D40F}"/>
              </a:ext>
            </a:extLst>
          </p:cNvPr>
          <p:cNvSpPr txBox="1"/>
          <p:nvPr/>
        </p:nvSpPr>
        <p:spPr>
          <a:xfrm>
            <a:off x="609600" y="5372418"/>
            <a:ext cx="109728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Being dynamic means that we can </a:t>
            </a:r>
            <a:r>
              <a:rPr lang="en-PH" sz="2500" b="1" dirty="0">
                <a:solidFill>
                  <a:schemeClr val="bg1"/>
                </a:solidFill>
              </a:rPr>
              <a:t>reuse the same stack </a:t>
            </a:r>
            <a:r>
              <a:rPr lang="en-PH" sz="2500" dirty="0">
                <a:solidFill>
                  <a:schemeClr val="bg1"/>
                </a:solidFill>
              </a:rPr>
              <a:t>if we need to add more items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2279DA-61B7-3AF8-B729-C159A41B55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9645906" y="2561440"/>
            <a:ext cx="545921" cy="545921"/>
          </a:xfrm>
          <a:prstGeom prst="rect">
            <a:avLst/>
          </a:prstGeom>
        </p:spPr>
      </p:pic>
      <p:pic>
        <p:nvPicPr>
          <p:cNvPr id="5" name="Picture 4" descr="A picture containing shirt&#10;&#10;Description automatically generated">
            <a:extLst>
              <a:ext uri="{FF2B5EF4-FFF2-40B4-BE49-F238E27FC236}">
                <a16:creationId xmlns:a16="http://schemas.microsoft.com/office/drawing/2014/main" id="{0799479F-E7C1-073F-4E94-511B2033139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7585326" y="2561440"/>
            <a:ext cx="545921" cy="539180"/>
          </a:xfrm>
          <a:prstGeom prst="rect">
            <a:avLst/>
          </a:prstGeom>
        </p:spPr>
      </p:pic>
      <p:pic>
        <p:nvPicPr>
          <p:cNvPr id="6" name="Picture 5" descr="Diagram&#10;&#10;Description automatically generated with low confidence">
            <a:extLst>
              <a:ext uri="{FF2B5EF4-FFF2-40B4-BE49-F238E27FC236}">
                <a16:creationId xmlns:a16="http://schemas.microsoft.com/office/drawing/2014/main" id="{A05F3D71-2BE2-7898-7B84-9DA74E74133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5599460" y="2502356"/>
            <a:ext cx="545921" cy="545921"/>
          </a:xfrm>
          <a:prstGeom prst="rect">
            <a:avLst/>
          </a:prstGeom>
        </p:spPr>
      </p:pic>
      <p:pic>
        <p:nvPicPr>
          <p:cNvPr id="7" name="Picture 6" descr="Diagram&#10;&#10;Description automatically generated">
            <a:extLst>
              <a:ext uri="{FF2B5EF4-FFF2-40B4-BE49-F238E27FC236}">
                <a16:creationId xmlns:a16="http://schemas.microsoft.com/office/drawing/2014/main" id="{A0D4C161-66EA-CDCE-8D34-850D62AF638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3538880" y="2502357"/>
            <a:ext cx="500655" cy="545921"/>
          </a:xfrm>
          <a:prstGeom prst="rect">
            <a:avLst/>
          </a:prstGeom>
        </p:spPr>
      </p:pic>
      <p:graphicFrame>
        <p:nvGraphicFramePr>
          <p:cNvPr id="8" name="Table 4">
            <a:extLst>
              <a:ext uri="{FF2B5EF4-FFF2-40B4-BE49-F238E27FC236}">
                <a16:creationId xmlns:a16="http://schemas.microsoft.com/office/drawing/2014/main" id="{E5082BA7-C639-B506-C848-A838CA9BC081}"/>
              </a:ext>
            </a:extLst>
          </p:cNvPr>
          <p:cNvGraphicFramePr>
            <a:graphicFrameLocks noGrp="1"/>
          </p:cNvGraphicFramePr>
          <p:nvPr/>
        </p:nvGraphicFramePr>
        <p:xfrm>
          <a:off x="3019448" y="3235810"/>
          <a:ext cx="153952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9760">
                  <a:extLst>
                    <a:ext uri="{9D8B030D-6E8A-4147-A177-3AD203B41FA5}">
                      <a16:colId xmlns:a16="http://schemas.microsoft.com/office/drawing/2014/main" val="801851880"/>
                    </a:ext>
                  </a:extLst>
                </a:gridCol>
                <a:gridCol w="769760">
                  <a:extLst>
                    <a:ext uri="{9D8B030D-6E8A-4147-A177-3AD203B41FA5}">
                      <a16:colId xmlns:a16="http://schemas.microsoft.com/office/drawing/2014/main" val="2556904316"/>
                    </a:ext>
                  </a:extLst>
                </a:gridCol>
              </a:tblGrid>
              <a:tr h="217459">
                <a:tc>
                  <a:txBody>
                    <a:bodyPr/>
                    <a:lstStyle/>
                    <a:p>
                      <a:r>
                        <a:rPr lang="en-PH" sz="1500" dirty="0">
                          <a:solidFill>
                            <a:srgbClr val="00B050"/>
                          </a:solidFill>
                        </a:rPr>
                        <a:t>Green Shirt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2822919"/>
                  </a:ext>
                </a:extLst>
              </a:tr>
            </a:tbl>
          </a:graphicData>
        </a:graphic>
      </p:graphicFrame>
      <p:graphicFrame>
        <p:nvGraphicFramePr>
          <p:cNvPr id="9" name="Table 4">
            <a:extLst>
              <a:ext uri="{FF2B5EF4-FFF2-40B4-BE49-F238E27FC236}">
                <a16:creationId xmlns:a16="http://schemas.microsoft.com/office/drawing/2014/main" id="{8BCFE9D7-57F8-20BF-D728-D6C616D42656}"/>
              </a:ext>
            </a:extLst>
          </p:cNvPr>
          <p:cNvGraphicFramePr>
            <a:graphicFrameLocks noGrp="1"/>
          </p:cNvGraphicFramePr>
          <p:nvPr/>
        </p:nvGraphicFramePr>
        <p:xfrm>
          <a:off x="5102661" y="3228595"/>
          <a:ext cx="153952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9760">
                  <a:extLst>
                    <a:ext uri="{9D8B030D-6E8A-4147-A177-3AD203B41FA5}">
                      <a16:colId xmlns:a16="http://schemas.microsoft.com/office/drawing/2014/main" val="801851880"/>
                    </a:ext>
                  </a:extLst>
                </a:gridCol>
                <a:gridCol w="769760">
                  <a:extLst>
                    <a:ext uri="{9D8B030D-6E8A-4147-A177-3AD203B41FA5}">
                      <a16:colId xmlns:a16="http://schemas.microsoft.com/office/drawing/2014/main" val="2556904316"/>
                    </a:ext>
                  </a:extLst>
                </a:gridCol>
              </a:tblGrid>
              <a:tr h="217459">
                <a:tc>
                  <a:txBody>
                    <a:bodyPr/>
                    <a:lstStyle/>
                    <a:p>
                      <a:r>
                        <a:rPr lang="en-PH" sz="1500" dirty="0">
                          <a:solidFill>
                            <a:srgbClr val="00B050"/>
                          </a:solidFill>
                        </a:rPr>
                        <a:t>Yellow Shirt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2822919"/>
                  </a:ext>
                </a:extLst>
              </a:tr>
            </a:tbl>
          </a:graphicData>
        </a:graphic>
      </p:graphicFrame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C61C05A4-0480-27E9-F720-F62D032ACC3E}"/>
              </a:ext>
            </a:extLst>
          </p:cNvPr>
          <p:cNvGraphicFramePr>
            <a:graphicFrameLocks noGrp="1"/>
          </p:cNvGraphicFramePr>
          <p:nvPr/>
        </p:nvGraphicFramePr>
        <p:xfrm>
          <a:off x="7088527" y="3235810"/>
          <a:ext cx="153952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9760">
                  <a:extLst>
                    <a:ext uri="{9D8B030D-6E8A-4147-A177-3AD203B41FA5}">
                      <a16:colId xmlns:a16="http://schemas.microsoft.com/office/drawing/2014/main" val="801851880"/>
                    </a:ext>
                  </a:extLst>
                </a:gridCol>
                <a:gridCol w="769760">
                  <a:extLst>
                    <a:ext uri="{9D8B030D-6E8A-4147-A177-3AD203B41FA5}">
                      <a16:colId xmlns:a16="http://schemas.microsoft.com/office/drawing/2014/main" val="2556904316"/>
                    </a:ext>
                  </a:extLst>
                </a:gridCol>
              </a:tblGrid>
              <a:tr h="217459">
                <a:tc>
                  <a:txBody>
                    <a:bodyPr/>
                    <a:lstStyle/>
                    <a:p>
                      <a:r>
                        <a:rPr lang="en-PH" sz="1500" dirty="0">
                          <a:solidFill>
                            <a:srgbClr val="00B050"/>
                          </a:solidFill>
                        </a:rPr>
                        <a:t>Red Shirt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2822919"/>
                  </a:ext>
                </a:extLst>
              </a:tr>
            </a:tbl>
          </a:graphicData>
        </a:graphic>
      </p:graphicFrame>
      <p:graphicFrame>
        <p:nvGraphicFramePr>
          <p:cNvPr id="12" name="Table 4">
            <a:extLst>
              <a:ext uri="{FF2B5EF4-FFF2-40B4-BE49-F238E27FC236}">
                <a16:creationId xmlns:a16="http://schemas.microsoft.com/office/drawing/2014/main" id="{407FCEAE-9430-D42E-58C1-C82A23D951F4}"/>
              </a:ext>
            </a:extLst>
          </p:cNvPr>
          <p:cNvGraphicFramePr>
            <a:graphicFrameLocks noGrp="1"/>
          </p:cNvGraphicFramePr>
          <p:nvPr/>
        </p:nvGraphicFramePr>
        <p:xfrm>
          <a:off x="9149107" y="3236620"/>
          <a:ext cx="153952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9760">
                  <a:extLst>
                    <a:ext uri="{9D8B030D-6E8A-4147-A177-3AD203B41FA5}">
                      <a16:colId xmlns:a16="http://schemas.microsoft.com/office/drawing/2014/main" val="801851880"/>
                    </a:ext>
                  </a:extLst>
                </a:gridCol>
                <a:gridCol w="769760">
                  <a:extLst>
                    <a:ext uri="{9D8B030D-6E8A-4147-A177-3AD203B41FA5}">
                      <a16:colId xmlns:a16="http://schemas.microsoft.com/office/drawing/2014/main" val="2556904316"/>
                    </a:ext>
                  </a:extLst>
                </a:gridCol>
              </a:tblGrid>
              <a:tr h="217459">
                <a:tc>
                  <a:txBody>
                    <a:bodyPr/>
                    <a:lstStyle/>
                    <a:p>
                      <a:r>
                        <a:rPr lang="en-PH" sz="1500" dirty="0">
                          <a:solidFill>
                            <a:srgbClr val="00B050"/>
                          </a:solidFill>
                        </a:rPr>
                        <a:t>Blue Shirt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2822919"/>
                  </a:ext>
                </a:extLst>
              </a:tr>
            </a:tbl>
          </a:graphicData>
        </a:graphic>
      </p:graphicFrame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094247C-52F8-C65C-7F12-93AA7A745629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4558968" y="3502915"/>
            <a:ext cx="543693" cy="7215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AAFB820-F778-0488-C4C0-1232D493C22D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>
            <a:off x="6642181" y="3502915"/>
            <a:ext cx="446346" cy="7215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9DF0AA4-867F-AA77-0750-D55248B849C1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>
            <a:off x="8628047" y="3510130"/>
            <a:ext cx="521060" cy="81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" name="Picture 9" descr="Diagram&#10;&#10;Description automatically generated">
            <a:extLst>
              <a:ext uri="{FF2B5EF4-FFF2-40B4-BE49-F238E27FC236}">
                <a16:creationId xmlns:a16="http://schemas.microsoft.com/office/drawing/2014/main" id="{26007939-E374-287E-71D3-9A10F793E871}"/>
              </a:ext>
            </a:extLst>
          </p:cNvPr>
          <p:cNvPicPr>
            <a:picLocks noChangeAspect="1"/>
          </p:cNvPicPr>
          <p:nvPr/>
        </p:nvPicPr>
        <p:blipFill>
          <a:blip r:embed="rId9">
            <a:biLevel thresh="25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1466983" y="2502357"/>
            <a:ext cx="500655" cy="545921"/>
          </a:xfrm>
          <a:prstGeom prst="rect">
            <a:avLst/>
          </a:prstGeom>
        </p:spPr>
      </p:pic>
      <p:graphicFrame>
        <p:nvGraphicFramePr>
          <p:cNvPr id="18" name="Table 4">
            <a:extLst>
              <a:ext uri="{FF2B5EF4-FFF2-40B4-BE49-F238E27FC236}">
                <a16:creationId xmlns:a16="http://schemas.microsoft.com/office/drawing/2014/main" id="{17E63707-4246-E07A-3172-0925D8AA0E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8961206"/>
              </p:ext>
            </p:extLst>
          </p:nvPr>
        </p:nvGraphicFramePr>
        <p:xfrm>
          <a:off x="947551" y="3235810"/>
          <a:ext cx="153952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9760">
                  <a:extLst>
                    <a:ext uri="{9D8B030D-6E8A-4147-A177-3AD203B41FA5}">
                      <a16:colId xmlns:a16="http://schemas.microsoft.com/office/drawing/2014/main" val="801851880"/>
                    </a:ext>
                  </a:extLst>
                </a:gridCol>
                <a:gridCol w="769760">
                  <a:extLst>
                    <a:ext uri="{9D8B030D-6E8A-4147-A177-3AD203B41FA5}">
                      <a16:colId xmlns:a16="http://schemas.microsoft.com/office/drawing/2014/main" val="2556904316"/>
                    </a:ext>
                  </a:extLst>
                </a:gridCol>
              </a:tblGrid>
              <a:tr h="217459">
                <a:tc>
                  <a:txBody>
                    <a:bodyPr/>
                    <a:lstStyle/>
                    <a:p>
                      <a:r>
                        <a:rPr lang="en-PH" sz="1500" dirty="0">
                          <a:solidFill>
                            <a:srgbClr val="00B050"/>
                          </a:solidFill>
                        </a:rPr>
                        <a:t>White Shirt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2822919"/>
                  </a:ext>
                </a:extLst>
              </a:tr>
            </a:tbl>
          </a:graphicData>
        </a:graphic>
      </p:graphicFrame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E2327C2-5015-F640-CD05-56F3DDF465FF}"/>
              </a:ext>
            </a:extLst>
          </p:cNvPr>
          <p:cNvCxnSpPr>
            <a:cxnSpLocks/>
            <a:stCxn id="18" idx="3"/>
          </p:cNvCxnSpPr>
          <p:nvPr/>
        </p:nvCxnSpPr>
        <p:spPr>
          <a:xfrm flipV="1">
            <a:off x="2487071" y="3502915"/>
            <a:ext cx="543693" cy="7215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20" name="Table 35">
            <a:extLst>
              <a:ext uri="{FF2B5EF4-FFF2-40B4-BE49-F238E27FC236}">
                <a16:creationId xmlns:a16="http://schemas.microsoft.com/office/drawing/2014/main" id="{D66EB779-62FF-F275-3DD7-A29324D65F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4374631"/>
              </p:ext>
            </p:extLst>
          </p:nvPr>
        </p:nvGraphicFramePr>
        <p:xfrm>
          <a:off x="947551" y="3944614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Top (Head)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0417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4AECCC-115E-31F4-67A0-179C3AA69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423E8-2C3C-D526-6794-6EFCAB9199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Autofit/>
          </a:bodyPr>
          <a:lstStyle/>
          <a:p>
            <a:r>
              <a:rPr lang="en-US" sz="5000" b="1" dirty="0">
                <a:solidFill>
                  <a:srgbClr val="00B050"/>
                </a:solidFill>
              </a:rPr>
              <a:t>Stack</a:t>
            </a:r>
            <a:r>
              <a:rPr lang="en-US" sz="5000" b="1" i="0" dirty="0">
                <a:solidFill>
                  <a:srgbClr val="00B050"/>
                </a:solidFill>
                <a:effectLst/>
              </a:rPr>
              <a:t> implementation using Arrays</a:t>
            </a:r>
            <a:endParaRPr lang="en-PH" sz="5000" dirty="0">
              <a:solidFill>
                <a:srgbClr val="00B05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074E98-7B88-6E2A-3AE1-E6981A8B9BB8}"/>
              </a:ext>
            </a:extLst>
          </p:cNvPr>
          <p:cNvSpPr txBox="1"/>
          <p:nvPr/>
        </p:nvSpPr>
        <p:spPr>
          <a:xfrm>
            <a:off x="1063535" y="3694784"/>
            <a:ext cx="282071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b="1" dirty="0">
                <a:solidFill>
                  <a:srgbClr val="00B050"/>
                </a:solidFill>
              </a:rPr>
              <a:t>Push Sequence:</a:t>
            </a:r>
          </a:p>
          <a:p>
            <a:endParaRPr lang="en-PH" b="1" dirty="0">
              <a:solidFill>
                <a:srgbClr val="00B050"/>
              </a:solidFill>
            </a:endParaRPr>
          </a:p>
          <a:p>
            <a:r>
              <a:rPr lang="en-PH" dirty="0">
                <a:solidFill>
                  <a:srgbClr val="00B050"/>
                </a:solidFill>
              </a:rPr>
              <a:t>Push (Blue Shirt)</a:t>
            </a:r>
          </a:p>
          <a:p>
            <a:r>
              <a:rPr lang="en-PH" dirty="0">
                <a:solidFill>
                  <a:srgbClr val="00B050"/>
                </a:solidFill>
              </a:rPr>
              <a:t>Push (Red Shirt)</a:t>
            </a:r>
          </a:p>
          <a:p>
            <a:r>
              <a:rPr lang="en-PH" dirty="0">
                <a:solidFill>
                  <a:srgbClr val="00B050"/>
                </a:solidFill>
              </a:rPr>
              <a:t>Push (Yellow Shirt)</a:t>
            </a:r>
          </a:p>
          <a:p>
            <a:r>
              <a:rPr lang="en-PH" dirty="0">
                <a:solidFill>
                  <a:srgbClr val="00B050"/>
                </a:solidFill>
              </a:rPr>
              <a:t>Push (Green Shirt)</a:t>
            </a:r>
          </a:p>
          <a:p>
            <a:endParaRPr lang="en-PH" dirty="0">
              <a:solidFill>
                <a:srgbClr val="00B050"/>
              </a:solidFill>
            </a:endParaRPr>
          </a:p>
          <a:p>
            <a:endParaRPr lang="en-PH" dirty="0">
              <a:solidFill>
                <a:srgbClr val="00B050"/>
              </a:solidFill>
            </a:endParaRPr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87985929-0C56-7C20-84A1-3FD47EABF856}"/>
              </a:ext>
            </a:extLst>
          </p:cNvPr>
          <p:cNvGraphicFramePr>
            <a:graphicFrameLocks noGrp="1"/>
          </p:cNvGraphicFramePr>
          <p:nvPr/>
        </p:nvGraphicFramePr>
        <p:xfrm>
          <a:off x="1118459" y="1914704"/>
          <a:ext cx="8128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02494153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6811302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62508213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643850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>
                          <a:solidFill>
                            <a:srgbClr val="00B050"/>
                          </a:solidFill>
                        </a:rPr>
                        <a:t>Blue Shirt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>
                          <a:solidFill>
                            <a:srgbClr val="00B050"/>
                          </a:solidFill>
                        </a:rPr>
                        <a:t>Red Shirt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>
                          <a:solidFill>
                            <a:srgbClr val="00B050"/>
                          </a:solidFill>
                        </a:rPr>
                        <a:t>Yellow Shirt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>
                          <a:solidFill>
                            <a:srgbClr val="00B050"/>
                          </a:solidFill>
                        </a:rPr>
                        <a:t>Green Shirt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6662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solidFill>
                            <a:srgbClr val="00B050"/>
                          </a:solidFill>
                        </a:rPr>
                        <a:t>3 </a:t>
                      </a:r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(TOP)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5519892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5A6C7E0A-ED4A-65FE-4BEB-ACF359ACD3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0448101" y="5335103"/>
            <a:ext cx="545921" cy="545921"/>
          </a:xfrm>
          <a:prstGeom prst="rect">
            <a:avLst/>
          </a:prstGeom>
        </p:spPr>
      </p:pic>
      <p:pic>
        <p:nvPicPr>
          <p:cNvPr id="17" name="Picture 16" descr="A picture containing shirt&#10;&#10;Description automatically generated">
            <a:extLst>
              <a:ext uri="{FF2B5EF4-FFF2-40B4-BE49-F238E27FC236}">
                <a16:creationId xmlns:a16="http://schemas.microsoft.com/office/drawing/2014/main" id="{001AF762-804A-1E87-4FFF-188105239D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10448100" y="4758975"/>
            <a:ext cx="545921" cy="539180"/>
          </a:xfrm>
          <a:prstGeom prst="rect">
            <a:avLst/>
          </a:prstGeom>
        </p:spPr>
      </p:pic>
      <p:pic>
        <p:nvPicPr>
          <p:cNvPr id="24" name="Picture 23" descr="Diagram&#10;&#10;Description automatically generated">
            <a:extLst>
              <a:ext uri="{FF2B5EF4-FFF2-40B4-BE49-F238E27FC236}">
                <a16:creationId xmlns:a16="http://schemas.microsoft.com/office/drawing/2014/main" id="{0A23CAF1-1A8C-29FE-F623-066960C8CA8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10485466" y="3532910"/>
            <a:ext cx="500655" cy="545921"/>
          </a:xfrm>
          <a:prstGeom prst="rect">
            <a:avLst/>
          </a:prstGeom>
        </p:spPr>
      </p:pic>
      <p:pic>
        <p:nvPicPr>
          <p:cNvPr id="26" name="Picture 25" descr="Diagram&#10;&#10;Description automatically generated with low confidence">
            <a:extLst>
              <a:ext uri="{FF2B5EF4-FFF2-40B4-BE49-F238E27FC236}">
                <a16:creationId xmlns:a16="http://schemas.microsoft.com/office/drawing/2014/main" id="{87E7B835-81BB-FCFE-78B8-DB80C76EE97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10448100" y="4152940"/>
            <a:ext cx="545921" cy="545921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B3A5E4D-710D-B14F-F9E5-2FC667C958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837501" y="1317388"/>
            <a:ext cx="545921" cy="545921"/>
          </a:xfrm>
          <a:prstGeom prst="rect">
            <a:avLst/>
          </a:prstGeom>
        </p:spPr>
      </p:pic>
      <p:pic>
        <p:nvPicPr>
          <p:cNvPr id="28" name="Picture 27" descr="A picture containing shirt&#10;&#10;Description automatically generated">
            <a:extLst>
              <a:ext uri="{FF2B5EF4-FFF2-40B4-BE49-F238E27FC236}">
                <a16:creationId xmlns:a16="http://schemas.microsoft.com/office/drawing/2014/main" id="{B96D3863-2C53-EDB4-12C3-2B0395E4A66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3920714" y="1296958"/>
            <a:ext cx="545921" cy="539180"/>
          </a:xfrm>
          <a:prstGeom prst="rect">
            <a:avLst/>
          </a:prstGeom>
        </p:spPr>
      </p:pic>
      <p:pic>
        <p:nvPicPr>
          <p:cNvPr id="29" name="Picture 28" descr="Diagram&#10;&#10;Description automatically generated with low confidence">
            <a:extLst>
              <a:ext uri="{FF2B5EF4-FFF2-40B4-BE49-F238E27FC236}">
                <a16:creationId xmlns:a16="http://schemas.microsoft.com/office/drawing/2014/main" id="{BE99898A-0CC9-6AF3-AA6B-653B4E85F97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5906580" y="1293587"/>
            <a:ext cx="545921" cy="545921"/>
          </a:xfrm>
          <a:prstGeom prst="rect">
            <a:avLst/>
          </a:prstGeom>
        </p:spPr>
      </p:pic>
      <p:pic>
        <p:nvPicPr>
          <p:cNvPr id="30" name="Picture 29" descr="Diagram&#10;&#10;Description automatically generated">
            <a:extLst>
              <a:ext uri="{FF2B5EF4-FFF2-40B4-BE49-F238E27FC236}">
                <a16:creationId xmlns:a16="http://schemas.microsoft.com/office/drawing/2014/main" id="{2A1470B5-44DC-A49D-9B88-59044E44E97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7989793" y="1284480"/>
            <a:ext cx="500655" cy="545921"/>
          </a:xfrm>
          <a:prstGeom prst="rect">
            <a:avLst/>
          </a:prstGeom>
        </p:spPr>
      </p:pic>
      <p:graphicFrame>
        <p:nvGraphicFramePr>
          <p:cNvPr id="31" name="Table 31">
            <a:extLst>
              <a:ext uri="{FF2B5EF4-FFF2-40B4-BE49-F238E27FC236}">
                <a16:creationId xmlns:a16="http://schemas.microsoft.com/office/drawing/2014/main" id="{CFBCEA2F-98DD-7691-A9C6-AC9F5EACC102}"/>
              </a:ext>
            </a:extLst>
          </p:cNvPr>
          <p:cNvGraphicFramePr>
            <a:graphicFrameLocks noGrp="1"/>
          </p:cNvGraphicFramePr>
          <p:nvPr/>
        </p:nvGraphicFramePr>
        <p:xfrm>
          <a:off x="8225378" y="3513230"/>
          <a:ext cx="2037080" cy="23481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7080">
                  <a:extLst>
                    <a:ext uri="{9D8B030D-6E8A-4147-A177-3AD203B41FA5}">
                      <a16:colId xmlns:a16="http://schemas.microsoft.com/office/drawing/2014/main" val="1867406527"/>
                    </a:ext>
                  </a:extLst>
                </a:gridCol>
              </a:tblGrid>
              <a:tr h="587029"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solidFill>
                            <a:srgbClr val="00B050"/>
                          </a:solidFill>
                        </a:rPr>
                        <a:t>Green Shirt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7862470"/>
                  </a:ext>
                </a:extLst>
              </a:tr>
              <a:tr h="587029"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solidFill>
                            <a:srgbClr val="00B050"/>
                          </a:solidFill>
                        </a:rPr>
                        <a:t>Yellow Shirt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9772172"/>
                  </a:ext>
                </a:extLst>
              </a:tr>
              <a:tr h="587029"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solidFill>
                            <a:srgbClr val="00B050"/>
                          </a:solidFill>
                        </a:rPr>
                        <a:t>Red Shirt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2862954"/>
                  </a:ext>
                </a:extLst>
              </a:tr>
              <a:tr h="587029"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solidFill>
                            <a:srgbClr val="00B050"/>
                          </a:solidFill>
                        </a:rPr>
                        <a:t>Blue Shirt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65995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69583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180699-D68D-4FC9-A52F-D835B621E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4C377-E0B3-8D00-4BFD-AD7A16D0B4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Push operation 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DAB817-626C-A90D-4CDD-CE80FCEA96AD}"/>
              </a:ext>
            </a:extLst>
          </p:cNvPr>
          <p:cNvSpPr txBox="1"/>
          <p:nvPr/>
        </p:nvSpPr>
        <p:spPr>
          <a:xfrm>
            <a:off x="1063535" y="3694784"/>
            <a:ext cx="1735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b="1" dirty="0">
                <a:solidFill>
                  <a:srgbClr val="00B050"/>
                </a:solidFill>
              </a:rPr>
              <a:t>Push Sequence:</a:t>
            </a:r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CDA891B9-9EE1-2CC5-9481-63C82FC2ED28}"/>
              </a:ext>
            </a:extLst>
          </p:cNvPr>
          <p:cNvGraphicFramePr>
            <a:graphicFrameLocks noGrp="1"/>
          </p:cNvGraphicFramePr>
          <p:nvPr/>
        </p:nvGraphicFramePr>
        <p:xfrm>
          <a:off x="1098139" y="1934384"/>
          <a:ext cx="8128000" cy="1010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02494153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6811302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62508213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643850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H" dirty="0">
                        <a:solidFill>
                          <a:srgbClr val="00B050"/>
                        </a:solidFill>
                      </a:endParaRPr>
                    </a:p>
                    <a:p>
                      <a:pPr algn="ctr"/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6662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PH" b="0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solidFill>
                            <a:srgbClr val="00B050"/>
                          </a:solidFill>
                        </a:rPr>
                        <a:t>3 </a:t>
                      </a:r>
                      <a:endParaRPr lang="en-PH" b="1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5519892"/>
                  </a:ext>
                </a:extLst>
              </a:tr>
            </a:tbl>
          </a:graphicData>
        </a:graphic>
      </p:graphicFrame>
      <p:pic>
        <p:nvPicPr>
          <p:cNvPr id="27" name="Picture 26">
            <a:extLst>
              <a:ext uri="{FF2B5EF4-FFF2-40B4-BE49-F238E27FC236}">
                <a16:creationId xmlns:a16="http://schemas.microsoft.com/office/drawing/2014/main" id="{BA25A963-F25E-F526-CA33-973D0E6AFF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837501" y="1259205"/>
            <a:ext cx="545921" cy="545921"/>
          </a:xfrm>
          <a:prstGeom prst="rect">
            <a:avLst/>
          </a:prstGeom>
        </p:spPr>
      </p:pic>
      <p:graphicFrame>
        <p:nvGraphicFramePr>
          <p:cNvPr id="31" name="Table 31">
            <a:extLst>
              <a:ext uri="{FF2B5EF4-FFF2-40B4-BE49-F238E27FC236}">
                <a16:creationId xmlns:a16="http://schemas.microsoft.com/office/drawing/2014/main" id="{4B5AF023-0DCC-8542-9BDE-00B14EB6689F}"/>
              </a:ext>
            </a:extLst>
          </p:cNvPr>
          <p:cNvGraphicFramePr>
            <a:graphicFrameLocks noGrp="1"/>
          </p:cNvGraphicFramePr>
          <p:nvPr/>
        </p:nvGraphicFramePr>
        <p:xfrm>
          <a:off x="8205058" y="3532910"/>
          <a:ext cx="2037080" cy="23481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7080">
                  <a:extLst>
                    <a:ext uri="{9D8B030D-6E8A-4147-A177-3AD203B41FA5}">
                      <a16:colId xmlns:a16="http://schemas.microsoft.com/office/drawing/2014/main" val="1867406527"/>
                    </a:ext>
                  </a:extLst>
                </a:gridCol>
              </a:tblGrid>
              <a:tr h="587029"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7862470"/>
                  </a:ext>
                </a:extLst>
              </a:tr>
              <a:tr h="587029"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9772172"/>
                  </a:ext>
                </a:extLst>
              </a:tr>
              <a:tr h="587029"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2862954"/>
                  </a:ext>
                </a:extLst>
              </a:tr>
              <a:tr h="587029"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6599522"/>
                  </a:ext>
                </a:extLst>
              </a:tr>
            </a:tbl>
          </a:graphicData>
        </a:graphic>
      </p:graphicFrame>
      <p:pic>
        <p:nvPicPr>
          <p:cNvPr id="19" name="Picture 18">
            <a:extLst>
              <a:ext uri="{FF2B5EF4-FFF2-40B4-BE49-F238E27FC236}">
                <a16:creationId xmlns:a16="http://schemas.microsoft.com/office/drawing/2014/main" id="{DE7E1DB4-C6CD-0689-A6AE-BF00530C61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0462832" y="5358269"/>
            <a:ext cx="545921" cy="54592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40D5F48-9A93-B4C8-B3D7-E308D7955071}"/>
              </a:ext>
            </a:extLst>
          </p:cNvPr>
          <p:cNvSpPr txBox="1"/>
          <p:nvPr/>
        </p:nvSpPr>
        <p:spPr>
          <a:xfrm>
            <a:off x="1532611" y="2070512"/>
            <a:ext cx="1155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b="1" dirty="0">
                <a:solidFill>
                  <a:srgbClr val="00B050"/>
                </a:solidFill>
              </a:rPr>
              <a:t>Blue Shirt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AC652FD-7550-4BC5-1182-174D7CCE5EDF}"/>
              </a:ext>
            </a:extLst>
          </p:cNvPr>
          <p:cNvSpPr txBox="1"/>
          <p:nvPr/>
        </p:nvSpPr>
        <p:spPr>
          <a:xfrm>
            <a:off x="1063534" y="4070306"/>
            <a:ext cx="3217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 err="1">
                <a:solidFill>
                  <a:srgbClr val="00B050"/>
                </a:solidFill>
                <a:latin typeface="Consolas" panose="020B0609020204030204" pitchFamily="49" charset="0"/>
              </a:rPr>
              <a:t>stack.push</a:t>
            </a:r>
            <a:r>
              <a:rPr lang="en-PH" dirty="0">
                <a:solidFill>
                  <a:srgbClr val="00B050"/>
                </a:solidFill>
                <a:latin typeface="Consolas" panose="020B0609020204030204" pitchFamily="49" charset="0"/>
              </a:rPr>
              <a:t>(“Blue Shirt”)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C2B7AB9-9B1D-09B2-F8E0-0CC32A676FDB}"/>
              </a:ext>
            </a:extLst>
          </p:cNvPr>
          <p:cNvSpPr txBox="1"/>
          <p:nvPr/>
        </p:nvSpPr>
        <p:spPr>
          <a:xfrm>
            <a:off x="8645748" y="5372786"/>
            <a:ext cx="1155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b="1" dirty="0">
                <a:solidFill>
                  <a:srgbClr val="00B050"/>
                </a:solidFill>
              </a:rPr>
              <a:t>Blue Shirt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E6A41C2-9FD5-CE84-9491-0F37DF167844}"/>
              </a:ext>
            </a:extLst>
          </p:cNvPr>
          <p:cNvSpPr txBox="1"/>
          <p:nvPr/>
        </p:nvSpPr>
        <p:spPr>
          <a:xfrm>
            <a:off x="1063533" y="4430443"/>
            <a:ext cx="3217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 err="1">
                <a:solidFill>
                  <a:srgbClr val="00B050"/>
                </a:solidFill>
                <a:latin typeface="Consolas" panose="020B0609020204030204" pitchFamily="49" charset="0"/>
              </a:rPr>
              <a:t>stack.push</a:t>
            </a:r>
            <a:r>
              <a:rPr lang="en-PH" dirty="0">
                <a:solidFill>
                  <a:srgbClr val="00B050"/>
                </a:solidFill>
                <a:latin typeface="Consolas" panose="020B0609020204030204" pitchFamily="49" charset="0"/>
              </a:rPr>
              <a:t>(“Red Shirt”)</a:t>
            </a:r>
          </a:p>
        </p:txBody>
      </p:sp>
      <p:pic>
        <p:nvPicPr>
          <p:cNvPr id="17" name="Picture 16" descr="A picture containing shirt&#10;&#10;Description automatically generated">
            <a:extLst>
              <a:ext uri="{FF2B5EF4-FFF2-40B4-BE49-F238E27FC236}">
                <a16:creationId xmlns:a16="http://schemas.microsoft.com/office/drawing/2014/main" id="{B8FDEF7F-77DE-30C0-5355-3B68330198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10448100" y="4758975"/>
            <a:ext cx="545921" cy="539180"/>
          </a:xfrm>
          <a:prstGeom prst="rect">
            <a:avLst/>
          </a:prstGeom>
        </p:spPr>
      </p:pic>
      <p:pic>
        <p:nvPicPr>
          <p:cNvPr id="28" name="Picture 27" descr="A picture containing shirt&#10;&#10;Description automatically generated">
            <a:extLst>
              <a:ext uri="{FF2B5EF4-FFF2-40B4-BE49-F238E27FC236}">
                <a16:creationId xmlns:a16="http://schemas.microsoft.com/office/drawing/2014/main" id="{E0A8C6A8-CC77-8B06-B21D-26A70C4E83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3920714" y="1296958"/>
            <a:ext cx="545921" cy="53918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A2E37D01-3DED-8E7D-02BA-64FF7E666094}"/>
              </a:ext>
            </a:extLst>
          </p:cNvPr>
          <p:cNvSpPr txBox="1"/>
          <p:nvPr/>
        </p:nvSpPr>
        <p:spPr>
          <a:xfrm>
            <a:off x="3615824" y="2056995"/>
            <a:ext cx="1155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b="1" dirty="0">
                <a:solidFill>
                  <a:srgbClr val="00B050"/>
                </a:solidFill>
              </a:rPr>
              <a:t>Red Shirt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6C22AD1-AFA5-7ADA-D7F0-598555440466}"/>
              </a:ext>
            </a:extLst>
          </p:cNvPr>
          <p:cNvSpPr txBox="1"/>
          <p:nvPr/>
        </p:nvSpPr>
        <p:spPr>
          <a:xfrm>
            <a:off x="8645748" y="4785180"/>
            <a:ext cx="1155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b="1" dirty="0">
                <a:solidFill>
                  <a:srgbClr val="00B050"/>
                </a:solidFill>
              </a:rPr>
              <a:t>Red Shirt</a:t>
            </a:r>
          </a:p>
        </p:txBody>
      </p:sp>
      <p:pic>
        <p:nvPicPr>
          <p:cNvPr id="26" name="Picture 25" descr="Diagram&#10;&#10;Description automatically generated with low confidence">
            <a:extLst>
              <a:ext uri="{FF2B5EF4-FFF2-40B4-BE49-F238E27FC236}">
                <a16:creationId xmlns:a16="http://schemas.microsoft.com/office/drawing/2014/main" id="{5F4DFF46-9948-AE1B-2528-02E9B953078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10448100" y="4152940"/>
            <a:ext cx="545921" cy="545921"/>
          </a:xfrm>
          <a:prstGeom prst="rect">
            <a:avLst/>
          </a:prstGeom>
        </p:spPr>
      </p:pic>
      <p:pic>
        <p:nvPicPr>
          <p:cNvPr id="29" name="Picture 28" descr="Diagram&#10;&#10;Description automatically generated with low confidence">
            <a:extLst>
              <a:ext uri="{FF2B5EF4-FFF2-40B4-BE49-F238E27FC236}">
                <a16:creationId xmlns:a16="http://schemas.microsoft.com/office/drawing/2014/main" id="{D3BAD059-F512-59F3-D571-2629A7D577C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5906580" y="1293587"/>
            <a:ext cx="545921" cy="54592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4616C6BF-28EF-A0DD-B52B-93E0DF5BA894}"/>
              </a:ext>
            </a:extLst>
          </p:cNvPr>
          <p:cNvSpPr txBox="1"/>
          <p:nvPr/>
        </p:nvSpPr>
        <p:spPr>
          <a:xfrm>
            <a:off x="5465209" y="2078988"/>
            <a:ext cx="1428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b="1" dirty="0">
                <a:solidFill>
                  <a:srgbClr val="00B050"/>
                </a:solidFill>
              </a:rPr>
              <a:t>Yellow Shirt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DB4D4E6-7A67-BDEA-EBDE-A05B90D6AA3F}"/>
              </a:ext>
            </a:extLst>
          </p:cNvPr>
          <p:cNvSpPr txBox="1"/>
          <p:nvPr/>
        </p:nvSpPr>
        <p:spPr>
          <a:xfrm>
            <a:off x="8517354" y="4254972"/>
            <a:ext cx="1417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b="1" dirty="0">
                <a:solidFill>
                  <a:srgbClr val="00B050"/>
                </a:solidFill>
              </a:rPr>
              <a:t>Yellow Shirt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133F379-AEB8-B12B-E1E3-B7BC35FC854F}"/>
              </a:ext>
            </a:extLst>
          </p:cNvPr>
          <p:cNvSpPr txBox="1"/>
          <p:nvPr/>
        </p:nvSpPr>
        <p:spPr>
          <a:xfrm>
            <a:off x="1063531" y="4762915"/>
            <a:ext cx="3484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 err="1">
                <a:solidFill>
                  <a:srgbClr val="00B050"/>
                </a:solidFill>
                <a:latin typeface="Consolas" panose="020B0609020204030204" pitchFamily="49" charset="0"/>
              </a:rPr>
              <a:t>stack.push</a:t>
            </a:r>
            <a:r>
              <a:rPr lang="en-PH" dirty="0">
                <a:solidFill>
                  <a:srgbClr val="00B050"/>
                </a:solidFill>
                <a:latin typeface="Consolas" panose="020B0609020204030204" pitchFamily="49" charset="0"/>
              </a:rPr>
              <a:t>(“Yellow Shirt”)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516DC3C-2366-9EEB-6B73-424996AE17DC}"/>
              </a:ext>
            </a:extLst>
          </p:cNvPr>
          <p:cNvSpPr txBox="1"/>
          <p:nvPr/>
        </p:nvSpPr>
        <p:spPr>
          <a:xfrm>
            <a:off x="1046808" y="5096358"/>
            <a:ext cx="3484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 err="1">
                <a:solidFill>
                  <a:srgbClr val="00B050"/>
                </a:solidFill>
                <a:latin typeface="Consolas" panose="020B0609020204030204" pitchFamily="49" charset="0"/>
              </a:rPr>
              <a:t>stack.push</a:t>
            </a:r>
            <a:r>
              <a:rPr lang="en-PH" dirty="0">
                <a:solidFill>
                  <a:srgbClr val="00B050"/>
                </a:solidFill>
                <a:latin typeface="Consolas" panose="020B0609020204030204" pitchFamily="49" charset="0"/>
              </a:rPr>
              <a:t>(“Green Shirt”)</a:t>
            </a:r>
          </a:p>
        </p:txBody>
      </p:sp>
      <p:pic>
        <p:nvPicPr>
          <p:cNvPr id="24" name="Picture 23" descr="Diagram&#10;&#10;Description automatically generated">
            <a:extLst>
              <a:ext uri="{FF2B5EF4-FFF2-40B4-BE49-F238E27FC236}">
                <a16:creationId xmlns:a16="http://schemas.microsoft.com/office/drawing/2014/main" id="{EA82E074-2BDB-D10E-80C4-6FB5F09C618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10485466" y="3532910"/>
            <a:ext cx="500655" cy="545921"/>
          </a:xfrm>
          <a:prstGeom prst="rect">
            <a:avLst/>
          </a:prstGeom>
        </p:spPr>
      </p:pic>
      <p:pic>
        <p:nvPicPr>
          <p:cNvPr id="30" name="Picture 29" descr="Diagram&#10;&#10;Description automatically generated">
            <a:extLst>
              <a:ext uri="{FF2B5EF4-FFF2-40B4-BE49-F238E27FC236}">
                <a16:creationId xmlns:a16="http://schemas.microsoft.com/office/drawing/2014/main" id="{DEFFC802-2250-EAD8-C6E1-807E9515285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7989793" y="1284480"/>
            <a:ext cx="500655" cy="545921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26AC248A-5924-C16B-F109-96EF84DF5F74}"/>
              </a:ext>
            </a:extLst>
          </p:cNvPr>
          <p:cNvSpPr txBox="1"/>
          <p:nvPr/>
        </p:nvSpPr>
        <p:spPr>
          <a:xfrm>
            <a:off x="7525789" y="2079613"/>
            <a:ext cx="1428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b="1" dirty="0">
                <a:solidFill>
                  <a:srgbClr val="00B050"/>
                </a:solidFill>
              </a:rPr>
              <a:t>Green Shirt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79F4A0A-7BB4-8F0A-83BA-A043C9AB72C2}"/>
              </a:ext>
            </a:extLst>
          </p:cNvPr>
          <p:cNvSpPr txBox="1"/>
          <p:nvPr/>
        </p:nvSpPr>
        <p:spPr>
          <a:xfrm>
            <a:off x="8527521" y="3660138"/>
            <a:ext cx="1417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b="1" dirty="0">
                <a:solidFill>
                  <a:srgbClr val="00B050"/>
                </a:solidFill>
              </a:rPr>
              <a:t>Green Shirt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84C5B9-A2F4-AD7E-025E-EE301E27E2C7}"/>
              </a:ext>
            </a:extLst>
          </p:cNvPr>
          <p:cNvSpPr txBox="1"/>
          <p:nvPr/>
        </p:nvSpPr>
        <p:spPr>
          <a:xfrm>
            <a:off x="8391377" y="2575972"/>
            <a:ext cx="738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b="1" dirty="0">
                <a:solidFill>
                  <a:srgbClr val="FF0000"/>
                </a:solidFill>
              </a:rPr>
              <a:t>(TOP)</a:t>
            </a:r>
          </a:p>
        </p:txBody>
      </p:sp>
    </p:spTree>
    <p:extLst>
      <p:ext uri="{BB962C8B-B14F-4D97-AF65-F5344CB8AC3E}">
        <p14:creationId xmlns:p14="http://schemas.microsoft.com/office/powerpoint/2010/main" val="2527923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3" grpId="0"/>
      <p:bldP spid="35" grpId="0"/>
      <p:bldP spid="36" grpId="0"/>
      <p:bldP spid="23" grpId="0"/>
      <p:bldP spid="37" grpId="0"/>
      <p:bldP spid="32" grpId="0"/>
      <p:bldP spid="38" grpId="0"/>
      <p:bldP spid="39" grpId="0"/>
      <p:bldP spid="40" grpId="0"/>
      <p:bldP spid="25" grpId="0"/>
      <p:bldP spid="41" grpId="0"/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Pop operation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9D1453-75F7-57B1-AD86-D3F46D5E27F8}"/>
              </a:ext>
            </a:extLst>
          </p:cNvPr>
          <p:cNvSpPr txBox="1"/>
          <p:nvPr/>
        </p:nvSpPr>
        <p:spPr>
          <a:xfrm>
            <a:off x="1063535" y="3694784"/>
            <a:ext cx="1735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b="1" dirty="0">
                <a:solidFill>
                  <a:srgbClr val="00B050"/>
                </a:solidFill>
              </a:rPr>
              <a:t>Pop Sequence:</a:t>
            </a:r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DEF2D023-8AA3-C0A9-D29B-CBC2D2F1DB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399857"/>
              </p:ext>
            </p:extLst>
          </p:nvPr>
        </p:nvGraphicFramePr>
        <p:xfrm>
          <a:off x="1098139" y="1934384"/>
          <a:ext cx="8128000" cy="1010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02494153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6811302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62508213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643850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H" dirty="0"/>
                    </a:p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6662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solidFill>
                            <a:srgbClr val="00B050"/>
                          </a:solidFill>
                        </a:rPr>
                        <a:t>3 </a:t>
                      </a:r>
                      <a:endParaRPr lang="en-PH" b="1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5519892"/>
                  </a:ext>
                </a:extLst>
              </a:tr>
            </a:tbl>
          </a:graphicData>
        </a:graphic>
      </p:graphicFrame>
      <p:pic>
        <p:nvPicPr>
          <p:cNvPr id="17" name="Picture 16" descr="A picture containing shirt&#10;&#10;Description automatically generated">
            <a:extLst>
              <a:ext uri="{FF2B5EF4-FFF2-40B4-BE49-F238E27FC236}">
                <a16:creationId xmlns:a16="http://schemas.microsoft.com/office/drawing/2014/main" id="{CBC0D990-F61C-886D-0174-0C9734DFFE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0448100" y="4758975"/>
            <a:ext cx="545921" cy="5391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749BDAF-05AD-202B-3586-980967612D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1837501" y="1259205"/>
            <a:ext cx="545921" cy="545921"/>
          </a:xfrm>
          <a:prstGeom prst="rect">
            <a:avLst/>
          </a:prstGeom>
        </p:spPr>
      </p:pic>
      <p:pic>
        <p:nvPicPr>
          <p:cNvPr id="28" name="Picture 27" descr="A picture containing shirt&#10;&#10;Description automatically generated">
            <a:extLst>
              <a:ext uri="{FF2B5EF4-FFF2-40B4-BE49-F238E27FC236}">
                <a16:creationId xmlns:a16="http://schemas.microsoft.com/office/drawing/2014/main" id="{6BE3D923-EBC4-EEEF-2D1F-D1409C2B1B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920714" y="1296958"/>
            <a:ext cx="545921" cy="539180"/>
          </a:xfrm>
          <a:prstGeom prst="rect">
            <a:avLst/>
          </a:prstGeom>
        </p:spPr>
      </p:pic>
      <p:graphicFrame>
        <p:nvGraphicFramePr>
          <p:cNvPr id="31" name="Table 31">
            <a:extLst>
              <a:ext uri="{FF2B5EF4-FFF2-40B4-BE49-F238E27FC236}">
                <a16:creationId xmlns:a16="http://schemas.microsoft.com/office/drawing/2014/main" id="{3EDA3525-D1AC-4B39-4628-DE727256DA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4998513"/>
              </p:ext>
            </p:extLst>
          </p:nvPr>
        </p:nvGraphicFramePr>
        <p:xfrm>
          <a:off x="8207599" y="3532910"/>
          <a:ext cx="2037080" cy="23481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7080">
                  <a:extLst>
                    <a:ext uri="{9D8B030D-6E8A-4147-A177-3AD203B41FA5}">
                      <a16:colId xmlns:a16="http://schemas.microsoft.com/office/drawing/2014/main" val="1867406527"/>
                    </a:ext>
                  </a:extLst>
                </a:gridCol>
              </a:tblGrid>
              <a:tr h="587029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7862470"/>
                  </a:ext>
                </a:extLst>
              </a:tr>
              <a:tr h="587029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9772172"/>
                  </a:ext>
                </a:extLst>
              </a:tr>
              <a:tr h="587029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2862954"/>
                  </a:ext>
                </a:extLst>
              </a:tr>
              <a:tr h="587029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6599522"/>
                  </a:ext>
                </a:extLst>
              </a:tr>
            </a:tbl>
          </a:graphicData>
        </a:graphic>
      </p:graphicFrame>
      <p:pic>
        <p:nvPicPr>
          <p:cNvPr id="19" name="Picture 18">
            <a:extLst>
              <a:ext uri="{FF2B5EF4-FFF2-40B4-BE49-F238E27FC236}">
                <a16:creationId xmlns:a16="http://schemas.microsoft.com/office/drawing/2014/main" id="{E69FB9D7-1D76-44ED-1581-92874D881B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10462832" y="5358269"/>
            <a:ext cx="545921" cy="54592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5B6A71-EA6A-BC06-B4B3-36F0BED54F3E}"/>
              </a:ext>
            </a:extLst>
          </p:cNvPr>
          <p:cNvSpPr txBox="1"/>
          <p:nvPr/>
        </p:nvSpPr>
        <p:spPr>
          <a:xfrm>
            <a:off x="1532611" y="2070512"/>
            <a:ext cx="1155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b="1" dirty="0">
                <a:solidFill>
                  <a:srgbClr val="00B050"/>
                </a:solidFill>
              </a:rPr>
              <a:t>Blue Shirt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F115CEE-E235-4D4E-1E6C-C43EC955CAE5}"/>
              </a:ext>
            </a:extLst>
          </p:cNvPr>
          <p:cNvSpPr txBox="1"/>
          <p:nvPr/>
        </p:nvSpPr>
        <p:spPr>
          <a:xfrm>
            <a:off x="3615824" y="2056995"/>
            <a:ext cx="1155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b="1" dirty="0">
                <a:solidFill>
                  <a:srgbClr val="00B050"/>
                </a:solidFill>
              </a:rPr>
              <a:t>Red Shirt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92FAA83-41FF-8CBF-2008-51F174926A89}"/>
              </a:ext>
            </a:extLst>
          </p:cNvPr>
          <p:cNvSpPr txBox="1"/>
          <p:nvPr/>
        </p:nvSpPr>
        <p:spPr>
          <a:xfrm>
            <a:off x="1063532" y="4070306"/>
            <a:ext cx="2481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 err="1">
                <a:solidFill>
                  <a:srgbClr val="00B050"/>
                </a:solidFill>
                <a:latin typeface="Consolas" panose="020B0609020204030204" pitchFamily="49" charset="0"/>
              </a:rPr>
              <a:t>Stack.pop</a:t>
            </a:r>
            <a:r>
              <a:rPr lang="en-PH" dirty="0">
                <a:solidFill>
                  <a:srgbClr val="00B050"/>
                </a:solidFill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33FBCC3-4573-0F0F-8EC2-7D331720FD53}"/>
              </a:ext>
            </a:extLst>
          </p:cNvPr>
          <p:cNvSpPr txBox="1"/>
          <p:nvPr/>
        </p:nvSpPr>
        <p:spPr>
          <a:xfrm>
            <a:off x="8645748" y="5372786"/>
            <a:ext cx="1155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b="1" dirty="0">
                <a:solidFill>
                  <a:srgbClr val="00B050"/>
                </a:solidFill>
              </a:rPr>
              <a:t>Blue Shirt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FE7C2D5-6966-A2FD-1142-E7157E3DEC01}"/>
              </a:ext>
            </a:extLst>
          </p:cNvPr>
          <p:cNvSpPr txBox="1"/>
          <p:nvPr/>
        </p:nvSpPr>
        <p:spPr>
          <a:xfrm>
            <a:off x="1063533" y="4430443"/>
            <a:ext cx="2481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 err="1">
                <a:solidFill>
                  <a:srgbClr val="00B050"/>
                </a:solidFill>
                <a:latin typeface="Consolas" panose="020B0609020204030204" pitchFamily="49" charset="0"/>
              </a:rPr>
              <a:t>Stack.pop</a:t>
            </a:r>
            <a:r>
              <a:rPr lang="en-PH" dirty="0">
                <a:solidFill>
                  <a:srgbClr val="00B050"/>
                </a:solidFill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7D901AC-4A5F-0473-6B23-69F7558EE895}"/>
              </a:ext>
            </a:extLst>
          </p:cNvPr>
          <p:cNvSpPr txBox="1"/>
          <p:nvPr/>
        </p:nvSpPr>
        <p:spPr>
          <a:xfrm>
            <a:off x="8645748" y="4785180"/>
            <a:ext cx="1155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b="1" dirty="0">
                <a:solidFill>
                  <a:srgbClr val="00B050"/>
                </a:solidFill>
              </a:rPr>
              <a:t>Red Shirt</a:t>
            </a:r>
          </a:p>
        </p:txBody>
      </p:sp>
      <p:pic>
        <p:nvPicPr>
          <p:cNvPr id="26" name="Picture 25" descr="Diagram&#10;&#10;Description automatically generated with low confidence">
            <a:extLst>
              <a:ext uri="{FF2B5EF4-FFF2-40B4-BE49-F238E27FC236}">
                <a16:creationId xmlns:a16="http://schemas.microsoft.com/office/drawing/2014/main" id="{224C7777-5A04-AE76-6E42-09F1556BA93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10448100" y="4152940"/>
            <a:ext cx="545921" cy="545921"/>
          </a:xfrm>
          <a:prstGeom prst="rect">
            <a:avLst/>
          </a:prstGeom>
        </p:spPr>
      </p:pic>
      <p:pic>
        <p:nvPicPr>
          <p:cNvPr id="29" name="Picture 28" descr="Diagram&#10;&#10;Description automatically generated with low confidence">
            <a:extLst>
              <a:ext uri="{FF2B5EF4-FFF2-40B4-BE49-F238E27FC236}">
                <a16:creationId xmlns:a16="http://schemas.microsoft.com/office/drawing/2014/main" id="{F0AA8856-CBD9-9170-31D3-E789AC8FE01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5906580" y="1293587"/>
            <a:ext cx="545921" cy="54592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E08FE999-4863-F223-3AA6-127C41BDAB52}"/>
              </a:ext>
            </a:extLst>
          </p:cNvPr>
          <p:cNvSpPr txBox="1"/>
          <p:nvPr/>
        </p:nvSpPr>
        <p:spPr>
          <a:xfrm>
            <a:off x="5465209" y="2078988"/>
            <a:ext cx="1428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b="1" dirty="0">
                <a:solidFill>
                  <a:srgbClr val="00B050"/>
                </a:solidFill>
              </a:rPr>
              <a:t>Yellow Shirt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CC4A1A5-8137-8664-3CCF-74C048507E63}"/>
              </a:ext>
            </a:extLst>
          </p:cNvPr>
          <p:cNvSpPr txBox="1"/>
          <p:nvPr/>
        </p:nvSpPr>
        <p:spPr>
          <a:xfrm>
            <a:off x="8517354" y="4254972"/>
            <a:ext cx="1417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b="1" dirty="0">
                <a:solidFill>
                  <a:srgbClr val="00B050"/>
                </a:solidFill>
              </a:rPr>
              <a:t>Yellow Shirt</a:t>
            </a:r>
          </a:p>
        </p:txBody>
      </p:sp>
      <p:pic>
        <p:nvPicPr>
          <p:cNvPr id="24" name="Picture 23" descr="Diagram&#10;&#10;Description automatically generated">
            <a:extLst>
              <a:ext uri="{FF2B5EF4-FFF2-40B4-BE49-F238E27FC236}">
                <a16:creationId xmlns:a16="http://schemas.microsoft.com/office/drawing/2014/main" id="{E7805405-62A9-D8B6-F101-E4F92391F41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10485466" y="3532910"/>
            <a:ext cx="500655" cy="545921"/>
          </a:xfrm>
          <a:prstGeom prst="rect">
            <a:avLst/>
          </a:prstGeom>
        </p:spPr>
      </p:pic>
      <p:pic>
        <p:nvPicPr>
          <p:cNvPr id="30" name="Picture 29" descr="Diagram&#10;&#10;Description automatically generated">
            <a:extLst>
              <a:ext uri="{FF2B5EF4-FFF2-40B4-BE49-F238E27FC236}">
                <a16:creationId xmlns:a16="http://schemas.microsoft.com/office/drawing/2014/main" id="{7FD09284-0307-0253-E160-5FB1B77DF8F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7989793" y="1284480"/>
            <a:ext cx="500655" cy="545921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EE294A7E-9AD2-6237-23A3-9D3897029C4C}"/>
              </a:ext>
            </a:extLst>
          </p:cNvPr>
          <p:cNvSpPr txBox="1"/>
          <p:nvPr/>
        </p:nvSpPr>
        <p:spPr>
          <a:xfrm>
            <a:off x="7525789" y="2079613"/>
            <a:ext cx="1428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b="1" dirty="0">
                <a:solidFill>
                  <a:srgbClr val="00B050"/>
                </a:solidFill>
              </a:rPr>
              <a:t>Green Shirt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E9802A0-DC44-241F-7C09-E15160BA19C1}"/>
              </a:ext>
            </a:extLst>
          </p:cNvPr>
          <p:cNvSpPr txBox="1"/>
          <p:nvPr/>
        </p:nvSpPr>
        <p:spPr>
          <a:xfrm>
            <a:off x="8527521" y="3660138"/>
            <a:ext cx="1417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b="1" dirty="0">
                <a:solidFill>
                  <a:srgbClr val="00B050"/>
                </a:solidFill>
              </a:rPr>
              <a:t>Green Shirt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D9EB5EE-6512-C70B-9987-26B1089E53BA}"/>
              </a:ext>
            </a:extLst>
          </p:cNvPr>
          <p:cNvSpPr txBox="1"/>
          <p:nvPr/>
        </p:nvSpPr>
        <p:spPr>
          <a:xfrm>
            <a:off x="1063532" y="4794906"/>
            <a:ext cx="2481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 err="1">
                <a:solidFill>
                  <a:srgbClr val="00B050"/>
                </a:solidFill>
                <a:latin typeface="Consolas" panose="020B0609020204030204" pitchFamily="49" charset="0"/>
              </a:rPr>
              <a:t>Stack.pop</a:t>
            </a:r>
            <a:r>
              <a:rPr lang="en-PH" dirty="0">
                <a:solidFill>
                  <a:srgbClr val="00B050"/>
                </a:solidFill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235C377-6815-04DD-43AC-53BB27293B09}"/>
              </a:ext>
            </a:extLst>
          </p:cNvPr>
          <p:cNvSpPr txBox="1"/>
          <p:nvPr/>
        </p:nvSpPr>
        <p:spPr>
          <a:xfrm>
            <a:off x="1063532" y="5151337"/>
            <a:ext cx="2481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 err="1">
                <a:solidFill>
                  <a:srgbClr val="00B050"/>
                </a:solidFill>
                <a:latin typeface="Consolas" panose="020B0609020204030204" pitchFamily="49" charset="0"/>
              </a:rPr>
              <a:t>Stack.pop</a:t>
            </a:r>
            <a:r>
              <a:rPr lang="en-PH" dirty="0">
                <a:solidFill>
                  <a:srgbClr val="00B050"/>
                </a:solidFill>
                <a:latin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45911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8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3" grpId="0"/>
      <p:bldP spid="33" grpId="0"/>
      <p:bldP spid="35" grpId="0"/>
      <p:bldP spid="36" grpId="0"/>
      <p:bldP spid="37" grpId="0"/>
      <p:bldP spid="32" grpId="0"/>
      <p:bldP spid="38" grpId="0"/>
      <p:bldP spid="25" grpId="0"/>
      <p:bldP spid="41" grpId="0"/>
      <p:bldP spid="34" grpId="0"/>
      <p:bldP spid="4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Autofit/>
          </a:bodyPr>
          <a:lstStyle/>
          <a:p>
            <a:r>
              <a:rPr lang="en-US" sz="4000" b="1" i="0" dirty="0">
                <a:solidFill>
                  <a:srgbClr val="00B050"/>
                </a:solidFill>
                <a:effectLst/>
              </a:rPr>
              <a:t>Stack Implementation usin</a:t>
            </a:r>
            <a:r>
              <a:rPr lang="en-US" sz="4000" b="1" dirty="0">
                <a:solidFill>
                  <a:srgbClr val="00B050"/>
                </a:solidFill>
              </a:rPr>
              <a:t>g Linked Lists</a:t>
            </a:r>
            <a:endParaRPr lang="en-PH" sz="4000" dirty="0">
              <a:solidFill>
                <a:srgbClr val="00B050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899B351-6E86-EC67-EA63-63884EB780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0448101" y="5335103"/>
            <a:ext cx="545921" cy="545921"/>
          </a:xfrm>
          <a:prstGeom prst="rect">
            <a:avLst/>
          </a:prstGeom>
        </p:spPr>
      </p:pic>
      <p:pic>
        <p:nvPicPr>
          <p:cNvPr id="17" name="Picture 16" descr="A picture containing shirt&#10;&#10;Description automatically generated">
            <a:extLst>
              <a:ext uri="{FF2B5EF4-FFF2-40B4-BE49-F238E27FC236}">
                <a16:creationId xmlns:a16="http://schemas.microsoft.com/office/drawing/2014/main" id="{CBC0D990-F61C-886D-0174-0C9734DFFE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10448100" y="4758975"/>
            <a:ext cx="545921" cy="539180"/>
          </a:xfrm>
          <a:prstGeom prst="rect">
            <a:avLst/>
          </a:prstGeom>
        </p:spPr>
      </p:pic>
      <p:pic>
        <p:nvPicPr>
          <p:cNvPr id="24" name="Picture 23" descr="Diagram&#10;&#10;Description automatically generated">
            <a:extLst>
              <a:ext uri="{FF2B5EF4-FFF2-40B4-BE49-F238E27FC236}">
                <a16:creationId xmlns:a16="http://schemas.microsoft.com/office/drawing/2014/main" id="{E7805405-62A9-D8B6-F101-E4F92391F41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10485466" y="3532910"/>
            <a:ext cx="500655" cy="545921"/>
          </a:xfrm>
          <a:prstGeom prst="rect">
            <a:avLst/>
          </a:prstGeom>
        </p:spPr>
      </p:pic>
      <p:pic>
        <p:nvPicPr>
          <p:cNvPr id="26" name="Picture 25" descr="Diagram&#10;&#10;Description automatically generated with low confidence">
            <a:extLst>
              <a:ext uri="{FF2B5EF4-FFF2-40B4-BE49-F238E27FC236}">
                <a16:creationId xmlns:a16="http://schemas.microsoft.com/office/drawing/2014/main" id="{224C7777-5A04-AE76-6E42-09F1556BA93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10448100" y="4152940"/>
            <a:ext cx="545921" cy="545921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749BDAF-05AD-202B-3586-980967612D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8972999" y="1474124"/>
            <a:ext cx="545921" cy="545921"/>
          </a:xfrm>
          <a:prstGeom prst="rect">
            <a:avLst/>
          </a:prstGeom>
        </p:spPr>
      </p:pic>
      <p:pic>
        <p:nvPicPr>
          <p:cNvPr id="28" name="Picture 27" descr="A picture containing shirt&#10;&#10;Description automatically generated">
            <a:extLst>
              <a:ext uri="{FF2B5EF4-FFF2-40B4-BE49-F238E27FC236}">
                <a16:creationId xmlns:a16="http://schemas.microsoft.com/office/drawing/2014/main" id="{6BE3D923-EBC4-EEEF-2D1F-D1409C2B1B2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6912419" y="1474124"/>
            <a:ext cx="545921" cy="539180"/>
          </a:xfrm>
          <a:prstGeom prst="rect">
            <a:avLst/>
          </a:prstGeom>
        </p:spPr>
      </p:pic>
      <p:pic>
        <p:nvPicPr>
          <p:cNvPr id="29" name="Picture 28" descr="Diagram&#10;&#10;Description automatically generated with low confidence">
            <a:extLst>
              <a:ext uri="{FF2B5EF4-FFF2-40B4-BE49-F238E27FC236}">
                <a16:creationId xmlns:a16="http://schemas.microsoft.com/office/drawing/2014/main" id="{F0AA8856-CBD9-9170-31D3-E789AC8FE01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4926553" y="1415040"/>
            <a:ext cx="545921" cy="545921"/>
          </a:xfrm>
          <a:prstGeom prst="rect">
            <a:avLst/>
          </a:prstGeom>
        </p:spPr>
      </p:pic>
      <p:pic>
        <p:nvPicPr>
          <p:cNvPr id="30" name="Picture 29" descr="Diagram&#10;&#10;Description automatically generated">
            <a:extLst>
              <a:ext uri="{FF2B5EF4-FFF2-40B4-BE49-F238E27FC236}">
                <a16:creationId xmlns:a16="http://schemas.microsoft.com/office/drawing/2014/main" id="{7FD09284-0307-0253-E160-5FB1B77DF8F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2865973" y="1415041"/>
            <a:ext cx="500655" cy="545921"/>
          </a:xfrm>
          <a:prstGeom prst="rect">
            <a:avLst/>
          </a:prstGeom>
        </p:spPr>
      </p:pic>
      <p:graphicFrame>
        <p:nvGraphicFramePr>
          <p:cNvPr id="31" name="Table 31">
            <a:extLst>
              <a:ext uri="{FF2B5EF4-FFF2-40B4-BE49-F238E27FC236}">
                <a16:creationId xmlns:a16="http://schemas.microsoft.com/office/drawing/2014/main" id="{3EDA3525-D1AC-4B39-4628-DE727256DA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7069660"/>
              </p:ext>
            </p:extLst>
          </p:nvPr>
        </p:nvGraphicFramePr>
        <p:xfrm>
          <a:off x="8205058" y="3532910"/>
          <a:ext cx="2037080" cy="23481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7080">
                  <a:extLst>
                    <a:ext uri="{9D8B030D-6E8A-4147-A177-3AD203B41FA5}">
                      <a16:colId xmlns:a16="http://schemas.microsoft.com/office/drawing/2014/main" val="1867406527"/>
                    </a:ext>
                  </a:extLst>
                </a:gridCol>
              </a:tblGrid>
              <a:tr h="587029"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solidFill>
                            <a:srgbClr val="00B050"/>
                          </a:solidFill>
                        </a:rPr>
                        <a:t>Green Shirt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7862470"/>
                  </a:ext>
                </a:extLst>
              </a:tr>
              <a:tr h="587029"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solidFill>
                            <a:srgbClr val="00B050"/>
                          </a:solidFill>
                        </a:rPr>
                        <a:t>Yellow Shirt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9772172"/>
                  </a:ext>
                </a:extLst>
              </a:tr>
              <a:tr h="587029"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solidFill>
                            <a:srgbClr val="00B050"/>
                          </a:solidFill>
                        </a:rPr>
                        <a:t>Red Shirt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2862954"/>
                  </a:ext>
                </a:extLst>
              </a:tr>
              <a:tr h="587029"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solidFill>
                            <a:srgbClr val="00B050"/>
                          </a:solidFill>
                        </a:rPr>
                        <a:t>Blue Shirt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6599522"/>
                  </a:ext>
                </a:extLst>
              </a:tr>
            </a:tbl>
          </a:graphicData>
        </a:graphic>
      </p:graphicFrame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A84C66C8-AEF7-9E65-D809-9BBBD7432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1454079"/>
              </p:ext>
            </p:extLst>
          </p:nvPr>
        </p:nvGraphicFramePr>
        <p:xfrm>
          <a:off x="2346541" y="2148494"/>
          <a:ext cx="153952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9760">
                  <a:extLst>
                    <a:ext uri="{9D8B030D-6E8A-4147-A177-3AD203B41FA5}">
                      <a16:colId xmlns:a16="http://schemas.microsoft.com/office/drawing/2014/main" val="801851880"/>
                    </a:ext>
                  </a:extLst>
                </a:gridCol>
                <a:gridCol w="769760">
                  <a:extLst>
                    <a:ext uri="{9D8B030D-6E8A-4147-A177-3AD203B41FA5}">
                      <a16:colId xmlns:a16="http://schemas.microsoft.com/office/drawing/2014/main" val="2556904316"/>
                    </a:ext>
                  </a:extLst>
                </a:gridCol>
              </a:tblGrid>
              <a:tr h="217459">
                <a:tc>
                  <a:txBody>
                    <a:bodyPr/>
                    <a:lstStyle/>
                    <a:p>
                      <a:r>
                        <a:rPr lang="en-PH" sz="1500" dirty="0">
                          <a:solidFill>
                            <a:srgbClr val="00B050"/>
                          </a:solidFill>
                        </a:rPr>
                        <a:t>Green Shirt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2822919"/>
                  </a:ext>
                </a:extLst>
              </a:tr>
            </a:tbl>
          </a:graphicData>
        </a:graphic>
      </p:graphicFrame>
      <p:graphicFrame>
        <p:nvGraphicFramePr>
          <p:cNvPr id="22" name="Table 4">
            <a:extLst>
              <a:ext uri="{FF2B5EF4-FFF2-40B4-BE49-F238E27FC236}">
                <a16:creationId xmlns:a16="http://schemas.microsoft.com/office/drawing/2014/main" id="{0FB7467F-E8AC-0896-84EB-FD09BEB7BE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791937"/>
              </p:ext>
            </p:extLst>
          </p:nvPr>
        </p:nvGraphicFramePr>
        <p:xfrm>
          <a:off x="4429754" y="2141279"/>
          <a:ext cx="153952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9760">
                  <a:extLst>
                    <a:ext uri="{9D8B030D-6E8A-4147-A177-3AD203B41FA5}">
                      <a16:colId xmlns:a16="http://schemas.microsoft.com/office/drawing/2014/main" val="801851880"/>
                    </a:ext>
                  </a:extLst>
                </a:gridCol>
                <a:gridCol w="769760">
                  <a:extLst>
                    <a:ext uri="{9D8B030D-6E8A-4147-A177-3AD203B41FA5}">
                      <a16:colId xmlns:a16="http://schemas.microsoft.com/office/drawing/2014/main" val="2556904316"/>
                    </a:ext>
                  </a:extLst>
                </a:gridCol>
              </a:tblGrid>
              <a:tr h="217459">
                <a:tc>
                  <a:txBody>
                    <a:bodyPr/>
                    <a:lstStyle/>
                    <a:p>
                      <a:r>
                        <a:rPr lang="en-PH" sz="1500" dirty="0">
                          <a:solidFill>
                            <a:srgbClr val="00B050"/>
                          </a:solidFill>
                        </a:rPr>
                        <a:t>Yellow Shirt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2822919"/>
                  </a:ext>
                </a:extLst>
              </a:tr>
            </a:tbl>
          </a:graphicData>
        </a:graphic>
      </p:graphicFrame>
      <p:graphicFrame>
        <p:nvGraphicFramePr>
          <p:cNvPr id="23" name="Table 4">
            <a:extLst>
              <a:ext uri="{FF2B5EF4-FFF2-40B4-BE49-F238E27FC236}">
                <a16:creationId xmlns:a16="http://schemas.microsoft.com/office/drawing/2014/main" id="{E9FF371B-159F-2D24-F33E-A5B5CB62C6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2599287"/>
              </p:ext>
            </p:extLst>
          </p:nvPr>
        </p:nvGraphicFramePr>
        <p:xfrm>
          <a:off x="6415620" y="2148494"/>
          <a:ext cx="153952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9760">
                  <a:extLst>
                    <a:ext uri="{9D8B030D-6E8A-4147-A177-3AD203B41FA5}">
                      <a16:colId xmlns:a16="http://schemas.microsoft.com/office/drawing/2014/main" val="801851880"/>
                    </a:ext>
                  </a:extLst>
                </a:gridCol>
                <a:gridCol w="769760">
                  <a:extLst>
                    <a:ext uri="{9D8B030D-6E8A-4147-A177-3AD203B41FA5}">
                      <a16:colId xmlns:a16="http://schemas.microsoft.com/office/drawing/2014/main" val="2556904316"/>
                    </a:ext>
                  </a:extLst>
                </a:gridCol>
              </a:tblGrid>
              <a:tr h="217459">
                <a:tc>
                  <a:txBody>
                    <a:bodyPr/>
                    <a:lstStyle/>
                    <a:p>
                      <a:r>
                        <a:rPr lang="en-PH" sz="1500" dirty="0">
                          <a:solidFill>
                            <a:srgbClr val="00B050"/>
                          </a:solidFill>
                        </a:rPr>
                        <a:t>Red Shirt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2822919"/>
                  </a:ext>
                </a:extLst>
              </a:tr>
            </a:tbl>
          </a:graphicData>
        </a:graphic>
      </p:graphicFrame>
      <p:graphicFrame>
        <p:nvGraphicFramePr>
          <p:cNvPr id="25" name="Table 4">
            <a:extLst>
              <a:ext uri="{FF2B5EF4-FFF2-40B4-BE49-F238E27FC236}">
                <a16:creationId xmlns:a16="http://schemas.microsoft.com/office/drawing/2014/main" id="{64EBD3FC-E85D-C692-E73B-B50C2A8668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2869824"/>
              </p:ext>
            </p:extLst>
          </p:nvPr>
        </p:nvGraphicFramePr>
        <p:xfrm>
          <a:off x="8476200" y="2149304"/>
          <a:ext cx="153952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9760">
                  <a:extLst>
                    <a:ext uri="{9D8B030D-6E8A-4147-A177-3AD203B41FA5}">
                      <a16:colId xmlns:a16="http://schemas.microsoft.com/office/drawing/2014/main" val="801851880"/>
                    </a:ext>
                  </a:extLst>
                </a:gridCol>
                <a:gridCol w="769760">
                  <a:extLst>
                    <a:ext uri="{9D8B030D-6E8A-4147-A177-3AD203B41FA5}">
                      <a16:colId xmlns:a16="http://schemas.microsoft.com/office/drawing/2014/main" val="2556904316"/>
                    </a:ext>
                  </a:extLst>
                </a:gridCol>
              </a:tblGrid>
              <a:tr h="217459">
                <a:tc>
                  <a:txBody>
                    <a:bodyPr/>
                    <a:lstStyle/>
                    <a:p>
                      <a:r>
                        <a:rPr lang="en-PH" sz="1500" dirty="0">
                          <a:solidFill>
                            <a:srgbClr val="00B050"/>
                          </a:solidFill>
                        </a:rPr>
                        <a:t>Blue Shirt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28229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F71AE15-D087-8D14-DE62-F704602A8104}"/>
              </a:ext>
            </a:extLst>
          </p:cNvPr>
          <p:cNvCxnSpPr>
            <a:cxnSpLocks/>
            <a:stCxn id="3" idx="3"/>
            <a:endCxn id="22" idx="1"/>
          </p:cNvCxnSpPr>
          <p:nvPr/>
        </p:nvCxnSpPr>
        <p:spPr>
          <a:xfrm flipV="1">
            <a:off x="3886061" y="2415599"/>
            <a:ext cx="543693" cy="7215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838C8F8-56D6-9C89-F199-F93CC33765C4}"/>
              </a:ext>
            </a:extLst>
          </p:cNvPr>
          <p:cNvCxnSpPr>
            <a:cxnSpLocks/>
            <a:stCxn id="22" idx="3"/>
            <a:endCxn id="23" idx="1"/>
          </p:cNvCxnSpPr>
          <p:nvPr/>
        </p:nvCxnSpPr>
        <p:spPr>
          <a:xfrm>
            <a:off x="5969274" y="2415599"/>
            <a:ext cx="446346" cy="7215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DBCC66C-24B5-8A49-5CBF-3289A8C76E8A}"/>
              </a:ext>
            </a:extLst>
          </p:cNvPr>
          <p:cNvCxnSpPr>
            <a:cxnSpLocks/>
            <a:stCxn id="23" idx="3"/>
            <a:endCxn id="25" idx="1"/>
          </p:cNvCxnSpPr>
          <p:nvPr/>
        </p:nvCxnSpPr>
        <p:spPr>
          <a:xfrm>
            <a:off x="7955140" y="2422814"/>
            <a:ext cx="521060" cy="81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35" name="Table 35">
            <a:extLst>
              <a:ext uri="{FF2B5EF4-FFF2-40B4-BE49-F238E27FC236}">
                <a16:creationId xmlns:a16="http://schemas.microsoft.com/office/drawing/2014/main" id="{E696C597-D1E2-D468-B594-E8D123A5B4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8909289"/>
              </p:ext>
            </p:extLst>
          </p:nvPr>
        </p:nvGraphicFramePr>
        <p:xfrm>
          <a:off x="2346541" y="2857298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Top (Head)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61F1F83F-5E0B-17CF-0AEB-60BE412425A3}"/>
              </a:ext>
            </a:extLst>
          </p:cNvPr>
          <p:cNvSpPr txBox="1"/>
          <p:nvPr/>
        </p:nvSpPr>
        <p:spPr>
          <a:xfrm>
            <a:off x="1063535" y="3694784"/>
            <a:ext cx="1735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b="1" dirty="0">
                <a:solidFill>
                  <a:srgbClr val="00B050"/>
                </a:solidFill>
              </a:rPr>
              <a:t>Push Sequence: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994643E-F091-92E2-5D97-EC3D9C09FD0D}"/>
              </a:ext>
            </a:extLst>
          </p:cNvPr>
          <p:cNvSpPr txBox="1"/>
          <p:nvPr/>
        </p:nvSpPr>
        <p:spPr>
          <a:xfrm>
            <a:off x="1063534" y="4070306"/>
            <a:ext cx="3311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 err="1">
                <a:solidFill>
                  <a:srgbClr val="00B050"/>
                </a:solidFill>
                <a:latin typeface="Consolas" panose="020B0609020204030204" pitchFamily="49" charset="0"/>
              </a:rPr>
              <a:t>stack.push</a:t>
            </a:r>
            <a:r>
              <a:rPr lang="en-PH" dirty="0">
                <a:solidFill>
                  <a:srgbClr val="00B050"/>
                </a:solidFill>
                <a:latin typeface="Consolas" panose="020B0609020204030204" pitchFamily="49" charset="0"/>
              </a:rPr>
              <a:t>(“Blue Shirt”)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FD3AAC9-91D4-A31B-EF97-E1382A8F35A2}"/>
              </a:ext>
            </a:extLst>
          </p:cNvPr>
          <p:cNvSpPr txBox="1"/>
          <p:nvPr/>
        </p:nvSpPr>
        <p:spPr>
          <a:xfrm>
            <a:off x="1063533" y="4430443"/>
            <a:ext cx="3311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 err="1">
                <a:solidFill>
                  <a:srgbClr val="00B050"/>
                </a:solidFill>
                <a:latin typeface="Consolas" panose="020B0609020204030204" pitchFamily="49" charset="0"/>
              </a:rPr>
              <a:t>stack.push</a:t>
            </a:r>
            <a:r>
              <a:rPr lang="en-PH" dirty="0">
                <a:solidFill>
                  <a:srgbClr val="00B050"/>
                </a:solidFill>
                <a:latin typeface="Consolas" panose="020B0609020204030204" pitchFamily="49" charset="0"/>
              </a:rPr>
              <a:t>(“Red Shirt”)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9C662D0-FF48-CAA7-9F58-0605F5409A28}"/>
              </a:ext>
            </a:extLst>
          </p:cNvPr>
          <p:cNvSpPr txBox="1"/>
          <p:nvPr/>
        </p:nvSpPr>
        <p:spPr>
          <a:xfrm>
            <a:off x="1063531" y="4762915"/>
            <a:ext cx="3586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 err="1">
                <a:solidFill>
                  <a:srgbClr val="00B050"/>
                </a:solidFill>
                <a:latin typeface="Consolas" panose="020B0609020204030204" pitchFamily="49" charset="0"/>
              </a:rPr>
              <a:t>stack.push</a:t>
            </a:r>
            <a:r>
              <a:rPr lang="en-PH" dirty="0">
                <a:solidFill>
                  <a:srgbClr val="00B050"/>
                </a:solidFill>
                <a:latin typeface="Consolas" panose="020B0609020204030204" pitchFamily="49" charset="0"/>
              </a:rPr>
              <a:t>(“Yellow Shirt”)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4B3D0A2-5011-471F-DE56-064279E34C3D}"/>
              </a:ext>
            </a:extLst>
          </p:cNvPr>
          <p:cNvSpPr txBox="1"/>
          <p:nvPr/>
        </p:nvSpPr>
        <p:spPr>
          <a:xfrm>
            <a:off x="1046808" y="5096358"/>
            <a:ext cx="3586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 err="1">
                <a:solidFill>
                  <a:srgbClr val="00B050"/>
                </a:solidFill>
                <a:latin typeface="Consolas" panose="020B0609020204030204" pitchFamily="49" charset="0"/>
              </a:rPr>
              <a:t>stack.push</a:t>
            </a:r>
            <a:r>
              <a:rPr lang="en-PH" dirty="0">
                <a:solidFill>
                  <a:srgbClr val="00B050"/>
                </a:solidFill>
                <a:latin typeface="Consolas" panose="020B0609020204030204" pitchFamily="49" charset="0"/>
              </a:rPr>
              <a:t>(“Green Shirt”)</a:t>
            </a:r>
          </a:p>
        </p:txBody>
      </p:sp>
    </p:spTree>
    <p:extLst>
      <p:ext uri="{BB962C8B-B14F-4D97-AF65-F5344CB8AC3E}">
        <p14:creationId xmlns:p14="http://schemas.microsoft.com/office/powerpoint/2010/main" val="3984795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Push operation </a:t>
            </a:r>
            <a:endParaRPr lang="en-PH" dirty="0">
              <a:solidFill>
                <a:srgbClr val="00B050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899B351-6E86-EC67-EA63-63884EB780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0448101" y="5335103"/>
            <a:ext cx="545921" cy="545921"/>
          </a:xfrm>
          <a:prstGeom prst="rect">
            <a:avLst/>
          </a:prstGeom>
        </p:spPr>
      </p:pic>
      <p:pic>
        <p:nvPicPr>
          <p:cNvPr id="17" name="Picture 16" descr="A picture containing shirt&#10;&#10;Description automatically generated">
            <a:extLst>
              <a:ext uri="{FF2B5EF4-FFF2-40B4-BE49-F238E27FC236}">
                <a16:creationId xmlns:a16="http://schemas.microsoft.com/office/drawing/2014/main" id="{CBC0D990-F61C-886D-0174-0C9734DFFE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10448100" y="4758975"/>
            <a:ext cx="545921" cy="539180"/>
          </a:xfrm>
          <a:prstGeom prst="rect">
            <a:avLst/>
          </a:prstGeom>
        </p:spPr>
      </p:pic>
      <p:pic>
        <p:nvPicPr>
          <p:cNvPr id="24" name="Picture 23" descr="Diagram&#10;&#10;Description automatically generated">
            <a:extLst>
              <a:ext uri="{FF2B5EF4-FFF2-40B4-BE49-F238E27FC236}">
                <a16:creationId xmlns:a16="http://schemas.microsoft.com/office/drawing/2014/main" id="{E7805405-62A9-D8B6-F101-E4F92391F41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10485466" y="3532910"/>
            <a:ext cx="500655" cy="545921"/>
          </a:xfrm>
          <a:prstGeom prst="rect">
            <a:avLst/>
          </a:prstGeom>
        </p:spPr>
      </p:pic>
      <p:pic>
        <p:nvPicPr>
          <p:cNvPr id="26" name="Picture 25" descr="Diagram&#10;&#10;Description automatically generated with low confidence">
            <a:extLst>
              <a:ext uri="{FF2B5EF4-FFF2-40B4-BE49-F238E27FC236}">
                <a16:creationId xmlns:a16="http://schemas.microsoft.com/office/drawing/2014/main" id="{224C7777-5A04-AE76-6E42-09F1556BA93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10448100" y="4152940"/>
            <a:ext cx="545921" cy="545921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749BDAF-05AD-202B-3586-980967612D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8972999" y="1474124"/>
            <a:ext cx="545921" cy="545921"/>
          </a:xfrm>
          <a:prstGeom prst="rect">
            <a:avLst/>
          </a:prstGeom>
        </p:spPr>
      </p:pic>
      <p:pic>
        <p:nvPicPr>
          <p:cNvPr id="28" name="Picture 27" descr="A picture containing shirt&#10;&#10;Description automatically generated">
            <a:extLst>
              <a:ext uri="{FF2B5EF4-FFF2-40B4-BE49-F238E27FC236}">
                <a16:creationId xmlns:a16="http://schemas.microsoft.com/office/drawing/2014/main" id="{6BE3D923-EBC4-EEEF-2D1F-D1409C2B1B2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6912419" y="1474124"/>
            <a:ext cx="545921" cy="539180"/>
          </a:xfrm>
          <a:prstGeom prst="rect">
            <a:avLst/>
          </a:prstGeom>
        </p:spPr>
      </p:pic>
      <p:pic>
        <p:nvPicPr>
          <p:cNvPr id="29" name="Picture 28" descr="Diagram&#10;&#10;Description automatically generated with low confidence">
            <a:extLst>
              <a:ext uri="{FF2B5EF4-FFF2-40B4-BE49-F238E27FC236}">
                <a16:creationId xmlns:a16="http://schemas.microsoft.com/office/drawing/2014/main" id="{F0AA8856-CBD9-9170-31D3-E789AC8FE01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4926553" y="1415040"/>
            <a:ext cx="545921" cy="545921"/>
          </a:xfrm>
          <a:prstGeom prst="rect">
            <a:avLst/>
          </a:prstGeom>
        </p:spPr>
      </p:pic>
      <p:pic>
        <p:nvPicPr>
          <p:cNvPr id="30" name="Picture 29" descr="Diagram&#10;&#10;Description automatically generated">
            <a:extLst>
              <a:ext uri="{FF2B5EF4-FFF2-40B4-BE49-F238E27FC236}">
                <a16:creationId xmlns:a16="http://schemas.microsoft.com/office/drawing/2014/main" id="{7FD09284-0307-0253-E160-5FB1B77DF8F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2865973" y="1415041"/>
            <a:ext cx="500655" cy="545921"/>
          </a:xfrm>
          <a:prstGeom prst="rect">
            <a:avLst/>
          </a:prstGeom>
        </p:spPr>
      </p:pic>
      <p:graphicFrame>
        <p:nvGraphicFramePr>
          <p:cNvPr id="31" name="Table 31">
            <a:extLst>
              <a:ext uri="{FF2B5EF4-FFF2-40B4-BE49-F238E27FC236}">
                <a16:creationId xmlns:a16="http://schemas.microsoft.com/office/drawing/2014/main" id="{3EDA3525-D1AC-4B39-4628-DE727256DA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0418779"/>
              </p:ext>
            </p:extLst>
          </p:nvPr>
        </p:nvGraphicFramePr>
        <p:xfrm>
          <a:off x="8205058" y="3532910"/>
          <a:ext cx="2037080" cy="23481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7080">
                  <a:extLst>
                    <a:ext uri="{9D8B030D-6E8A-4147-A177-3AD203B41FA5}">
                      <a16:colId xmlns:a16="http://schemas.microsoft.com/office/drawing/2014/main" val="1867406527"/>
                    </a:ext>
                  </a:extLst>
                </a:gridCol>
              </a:tblGrid>
              <a:tr h="587029"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7862470"/>
                  </a:ext>
                </a:extLst>
              </a:tr>
              <a:tr h="587029"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9772172"/>
                  </a:ext>
                </a:extLst>
              </a:tr>
              <a:tr h="587029"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2862954"/>
                  </a:ext>
                </a:extLst>
              </a:tr>
              <a:tr h="587029"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6599522"/>
                  </a:ext>
                </a:extLst>
              </a:tr>
            </a:tbl>
          </a:graphicData>
        </a:graphic>
      </p:graphicFrame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A84C66C8-AEF7-9E65-D809-9BBBD7432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5410869"/>
              </p:ext>
            </p:extLst>
          </p:nvPr>
        </p:nvGraphicFramePr>
        <p:xfrm>
          <a:off x="2346541" y="2148494"/>
          <a:ext cx="153952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9760">
                  <a:extLst>
                    <a:ext uri="{9D8B030D-6E8A-4147-A177-3AD203B41FA5}">
                      <a16:colId xmlns:a16="http://schemas.microsoft.com/office/drawing/2014/main" val="801851880"/>
                    </a:ext>
                  </a:extLst>
                </a:gridCol>
                <a:gridCol w="769760">
                  <a:extLst>
                    <a:ext uri="{9D8B030D-6E8A-4147-A177-3AD203B41FA5}">
                      <a16:colId xmlns:a16="http://schemas.microsoft.com/office/drawing/2014/main" val="2556904316"/>
                    </a:ext>
                  </a:extLst>
                </a:gridCol>
              </a:tblGrid>
              <a:tr h="217459">
                <a:tc>
                  <a:txBody>
                    <a:bodyPr/>
                    <a:lstStyle/>
                    <a:p>
                      <a:r>
                        <a:rPr lang="en-PH" sz="1500" dirty="0">
                          <a:solidFill>
                            <a:srgbClr val="00B050"/>
                          </a:solidFill>
                        </a:rPr>
                        <a:t>Green Shirt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2822919"/>
                  </a:ext>
                </a:extLst>
              </a:tr>
            </a:tbl>
          </a:graphicData>
        </a:graphic>
      </p:graphicFrame>
      <p:graphicFrame>
        <p:nvGraphicFramePr>
          <p:cNvPr id="22" name="Table 4">
            <a:extLst>
              <a:ext uri="{FF2B5EF4-FFF2-40B4-BE49-F238E27FC236}">
                <a16:creationId xmlns:a16="http://schemas.microsoft.com/office/drawing/2014/main" id="{0FB7467F-E8AC-0896-84EB-FD09BEB7BE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2015273"/>
              </p:ext>
            </p:extLst>
          </p:nvPr>
        </p:nvGraphicFramePr>
        <p:xfrm>
          <a:off x="4429754" y="2141279"/>
          <a:ext cx="153952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9760">
                  <a:extLst>
                    <a:ext uri="{9D8B030D-6E8A-4147-A177-3AD203B41FA5}">
                      <a16:colId xmlns:a16="http://schemas.microsoft.com/office/drawing/2014/main" val="801851880"/>
                    </a:ext>
                  </a:extLst>
                </a:gridCol>
                <a:gridCol w="769760">
                  <a:extLst>
                    <a:ext uri="{9D8B030D-6E8A-4147-A177-3AD203B41FA5}">
                      <a16:colId xmlns:a16="http://schemas.microsoft.com/office/drawing/2014/main" val="2556904316"/>
                    </a:ext>
                  </a:extLst>
                </a:gridCol>
              </a:tblGrid>
              <a:tr h="217459">
                <a:tc>
                  <a:txBody>
                    <a:bodyPr/>
                    <a:lstStyle/>
                    <a:p>
                      <a:r>
                        <a:rPr lang="en-PH" sz="1500" dirty="0">
                          <a:solidFill>
                            <a:srgbClr val="00B050"/>
                          </a:solidFill>
                        </a:rPr>
                        <a:t>Yellow Shirt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2822919"/>
                  </a:ext>
                </a:extLst>
              </a:tr>
            </a:tbl>
          </a:graphicData>
        </a:graphic>
      </p:graphicFrame>
      <p:graphicFrame>
        <p:nvGraphicFramePr>
          <p:cNvPr id="23" name="Table 4">
            <a:extLst>
              <a:ext uri="{FF2B5EF4-FFF2-40B4-BE49-F238E27FC236}">
                <a16:creationId xmlns:a16="http://schemas.microsoft.com/office/drawing/2014/main" id="{E9FF371B-159F-2D24-F33E-A5B5CB62C6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048299"/>
              </p:ext>
            </p:extLst>
          </p:nvPr>
        </p:nvGraphicFramePr>
        <p:xfrm>
          <a:off x="6415620" y="2148494"/>
          <a:ext cx="153952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9760">
                  <a:extLst>
                    <a:ext uri="{9D8B030D-6E8A-4147-A177-3AD203B41FA5}">
                      <a16:colId xmlns:a16="http://schemas.microsoft.com/office/drawing/2014/main" val="801851880"/>
                    </a:ext>
                  </a:extLst>
                </a:gridCol>
                <a:gridCol w="769760">
                  <a:extLst>
                    <a:ext uri="{9D8B030D-6E8A-4147-A177-3AD203B41FA5}">
                      <a16:colId xmlns:a16="http://schemas.microsoft.com/office/drawing/2014/main" val="2556904316"/>
                    </a:ext>
                  </a:extLst>
                </a:gridCol>
              </a:tblGrid>
              <a:tr h="217459">
                <a:tc>
                  <a:txBody>
                    <a:bodyPr/>
                    <a:lstStyle/>
                    <a:p>
                      <a:r>
                        <a:rPr lang="en-PH" sz="1500" dirty="0">
                          <a:solidFill>
                            <a:srgbClr val="00B050"/>
                          </a:solidFill>
                        </a:rPr>
                        <a:t>Red Shirt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2822919"/>
                  </a:ext>
                </a:extLst>
              </a:tr>
            </a:tbl>
          </a:graphicData>
        </a:graphic>
      </p:graphicFrame>
      <p:graphicFrame>
        <p:nvGraphicFramePr>
          <p:cNvPr id="25" name="Table 4">
            <a:extLst>
              <a:ext uri="{FF2B5EF4-FFF2-40B4-BE49-F238E27FC236}">
                <a16:creationId xmlns:a16="http://schemas.microsoft.com/office/drawing/2014/main" id="{64EBD3FC-E85D-C692-E73B-B50C2A8668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8234404"/>
              </p:ext>
            </p:extLst>
          </p:nvPr>
        </p:nvGraphicFramePr>
        <p:xfrm>
          <a:off x="8476200" y="2149304"/>
          <a:ext cx="153952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9760">
                  <a:extLst>
                    <a:ext uri="{9D8B030D-6E8A-4147-A177-3AD203B41FA5}">
                      <a16:colId xmlns:a16="http://schemas.microsoft.com/office/drawing/2014/main" val="801851880"/>
                    </a:ext>
                  </a:extLst>
                </a:gridCol>
                <a:gridCol w="769760">
                  <a:extLst>
                    <a:ext uri="{9D8B030D-6E8A-4147-A177-3AD203B41FA5}">
                      <a16:colId xmlns:a16="http://schemas.microsoft.com/office/drawing/2014/main" val="2556904316"/>
                    </a:ext>
                  </a:extLst>
                </a:gridCol>
              </a:tblGrid>
              <a:tr h="217459">
                <a:tc>
                  <a:txBody>
                    <a:bodyPr/>
                    <a:lstStyle/>
                    <a:p>
                      <a:r>
                        <a:rPr lang="en-PH" sz="1500" dirty="0">
                          <a:solidFill>
                            <a:srgbClr val="00B050"/>
                          </a:solidFill>
                        </a:rPr>
                        <a:t>Blue Shirt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28229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F71AE15-D087-8D14-DE62-F704602A8104}"/>
              </a:ext>
            </a:extLst>
          </p:cNvPr>
          <p:cNvCxnSpPr>
            <a:cxnSpLocks/>
            <a:stCxn id="3" idx="3"/>
            <a:endCxn id="22" idx="1"/>
          </p:cNvCxnSpPr>
          <p:nvPr/>
        </p:nvCxnSpPr>
        <p:spPr>
          <a:xfrm flipV="1">
            <a:off x="3886061" y="2415599"/>
            <a:ext cx="543693" cy="7215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838C8F8-56D6-9C89-F199-F93CC33765C4}"/>
              </a:ext>
            </a:extLst>
          </p:cNvPr>
          <p:cNvCxnSpPr>
            <a:cxnSpLocks/>
            <a:stCxn id="22" idx="3"/>
            <a:endCxn id="23" idx="1"/>
          </p:cNvCxnSpPr>
          <p:nvPr/>
        </p:nvCxnSpPr>
        <p:spPr>
          <a:xfrm>
            <a:off x="5969274" y="2415599"/>
            <a:ext cx="446346" cy="7215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DBCC66C-24B5-8A49-5CBF-3289A8C76E8A}"/>
              </a:ext>
            </a:extLst>
          </p:cNvPr>
          <p:cNvCxnSpPr>
            <a:cxnSpLocks/>
            <a:stCxn id="23" idx="3"/>
            <a:endCxn id="25" idx="1"/>
          </p:cNvCxnSpPr>
          <p:nvPr/>
        </p:nvCxnSpPr>
        <p:spPr>
          <a:xfrm>
            <a:off x="7955140" y="2422814"/>
            <a:ext cx="521060" cy="81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35" name="Table 35">
            <a:extLst>
              <a:ext uri="{FF2B5EF4-FFF2-40B4-BE49-F238E27FC236}">
                <a16:creationId xmlns:a16="http://schemas.microsoft.com/office/drawing/2014/main" id="{E696C597-D1E2-D468-B594-E8D123A5B4D4}"/>
              </a:ext>
            </a:extLst>
          </p:cNvPr>
          <p:cNvGraphicFramePr>
            <a:graphicFrameLocks noGrp="1"/>
          </p:cNvGraphicFramePr>
          <p:nvPr/>
        </p:nvGraphicFramePr>
        <p:xfrm>
          <a:off x="2346541" y="2857298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Head (Top)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DB2B71EA-984A-0173-F1AB-6F139204170B}"/>
              </a:ext>
            </a:extLst>
          </p:cNvPr>
          <p:cNvSpPr txBox="1"/>
          <p:nvPr/>
        </p:nvSpPr>
        <p:spPr>
          <a:xfrm>
            <a:off x="1063535" y="3694784"/>
            <a:ext cx="1735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b="1" dirty="0">
                <a:solidFill>
                  <a:srgbClr val="00B050"/>
                </a:solidFill>
              </a:rPr>
              <a:t>Push Sequence: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0706EAB-B0AF-1292-98C4-6097DA53B5DB}"/>
              </a:ext>
            </a:extLst>
          </p:cNvPr>
          <p:cNvSpPr txBox="1"/>
          <p:nvPr/>
        </p:nvSpPr>
        <p:spPr>
          <a:xfrm>
            <a:off x="1063534" y="4070306"/>
            <a:ext cx="3305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 err="1">
                <a:solidFill>
                  <a:srgbClr val="00B050"/>
                </a:solidFill>
                <a:latin typeface="Consolas" panose="020B0609020204030204" pitchFamily="49" charset="0"/>
              </a:rPr>
              <a:t>stack.push</a:t>
            </a:r>
            <a:r>
              <a:rPr lang="en-PH" dirty="0">
                <a:solidFill>
                  <a:srgbClr val="00B050"/>
                </a:solidFill>
                <a:latin typeface="Consolas" panose="020B0609020204030204" pitchFamily="49" charset="0"/>
              </a:rPr>
              <a:t>(“Blue Shirt”)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C9196EF-572E-0204-BF5F-0EC956A29307}"/>
              </a:ext>
            </a:extLst>
          </p:cNvPr>
          <p:cNvSpPr txBox="1"/>
          <p:nvPr/>
        </p:nvSpPr>
        <p:spPr>
          <a:xfrm>
            <a:off x="1063533" y="4430443"/>
            <a:ext cx="3305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 err="1">
                <a:solidFill>
                  <a:srgbClr val="00B050"/>
                </a:solidFill>
                <a:latin typeface="Consolas" panose="020B0609020204030204" pitchFamily="49" charset="0"/>
              </a:rPr>
              <a:t>stack.push</a:t>
            </a:r>
            <a:r>
              <a:rPr lang="en-PH" dirty="0">
                <a:solidFill>
                  <a:srgbClr val="00B050"/>
                </a:solidFill>
                <a:latin typeface="Consolas" panose="020B0609020204030204" pitchFamily="49" charset="0"/>
              </a:rPr>
              <a:t>(“Red Shirt”)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FE1D50B-4427-CEA8-F6A0-7B5A91CC81CB}"/>
              </a:ext>
            </a:extLst>
          </p:cNvPr>
          <p:cNvSpPr txBox="1"/>
          <p:nvPr/>
        </p:nvSpPr>
        <p:spPr>
          <a:xfrm>
            <a:off x="1063532" y="4762915"/>
            <a:ext cx="3579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 err="1">
                <a:solidFill>
                  <a:srgbClr val="00B050"/>
                </a:solidFill>
                <a:latin typeface="Consolas" panose="020B0609020204030204" pitchFamily="49" charset="0"/>
              </a:rPr>
              <a:t>stack.push</a:t>
            </a:r>
            <a:r>
              <a:rPr lang="en-PH" dirty="0">
                <a:solidFill>
                  <a:srgbClr val="00B050"/>
                </a:solidFill>
                <a:latin typeface="Consolas" panose="020B0609020204030204" pitchFamily="49" charset="0"/>
              </a:rPr>
              <a:t>(“Yellow Shirt”)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C6D9B14-54A7-1146-FE96-DBB28169AC0E}"/>
              </a:ext>
            </a:extLst>
          </p:cNvPr>
          <p:cNvSpPr txBox="1"/>
          <p:nvPr/>
        </p:nvSpPr>
        <p:spPr>
          <a:xfrm>
            <a:off x="1046809" y="5096358"/>
            <a:ext cx="3579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 err="1">
                <a:solidFill>
                  <a:srgbClr val="00B050"/>
                </a:solidFill>
                <a:latin typeface="Consolas" panose="020B0609020204030204" pitchFamily="49" charset="0"/>
              </a:rPr>
              <a:t>stack.push</a:t>
            </a:r>
            <a:r>
              <a:rPr lang="en-PH" dirty="0">
                <a:solidFill>
                  <a:srgbClr val="00B050"/>
                </a:solidFill>
                <a:latin typeface="Consolas" panose="020B0609020204030204" pitchFamily="49" charset="0"/>
              </a:rPr>
              <a:t>(“Green Shirt”)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034F9C7-5E37-D908-8E3D-FE474A6AF8C4}"/>
              </a:ext>
            </a:extLst>
          </p:cNvPr>
          <p:cNvSpPr txBox="1"/>
          <p:nvPr/>
        </p:nvSpPr>
        <p:spPr>
          <a:xfrm>
            <a:off x="8527521" y="3660138"/>
            <a:ext cx="1417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b="1" dirty="0">
                <a:solidFill>
                  <a:srgbClr val="00B050"/>
                </a:solidFill>
              </a:rPr>
              <a:t>Green Shirt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FCC363A-EDFB-09A1-D35C-BFD5464DD8B3}"/>
              </a:ext>
            </a:extLst>
          </p:cNvPr>
          <p:cNvSpPr txBox="1"/>
          <p:nvPr/>
        </p:nvSpPr>
        <p:spPr>
          <a:xfrm>
            <a:off x="8517354" y="4254972"/>
            <a:ext cx="1417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b="1" dirty="0">
                <a:solidFill>
                  <a:srgbClr val="00B050"/>
                </a:solidFill>
              </a:rPr>
              <a:t>Yellow Shirt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FEBFB3C-FC6A-99E9-5C52-7C3B2A4A98F4}"/>
              </a:ext>
            </a:extLst>
          </p:cNvPr>
          <p:cNvSpPr txBox="1"/>
          <p:nvPr/>
        </p:nvSpPr>
        <p:spPr>
          <a:xfrm>
            <a:off x="8645748" y="4785180"/>
            <a:ext cx="1155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b="1" dirty="0">
                <a:solidFill>
                  <a:srgbClr val="00B050"/>
                </a:solidFill>
              </a:rPr>
              <a:t>Red Shirt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0DD7966-208F-BD20-956B-832E00FB0F74}"/>
              </a:ext>
            </a:extLst>
          </p:cNvPr>
          <p:cNvSpPr txBox="1"/>
          <p:nvPr/>
        </p:nvSpPr>
        <p:spPr>
          <a:xfrm>
            <a:off x="8645748" y="5372786"/>
            <a:ext cx="1155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b="1" dirty="0">
                <a:solidFill>
                  <a:srgbClr val="00B050"/>
                </a:solidFill>
              </a:rPr>
              <a:t>Blue Shirt</a:t>
            </a:r>
          </a:p>
        </p:txBody>
      </p:sp>
    </p:spTree>
    <p:extLst>
      <p:ext uri="{BB962C8B-B14F-4D97-AF65-F5344CB8AC3E}">
        <p14:creationId xmlns:p14="http://schemas.microsoft.com/office/powerpoint/2010/main" val="2794478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/>
      <p:bldP spid="38" grpId="0"/>
      <p:bldP spid="39" grpId="0"/>
      <p:bldP spid="45" grpId="0"/>
      <p:bldP spid="47" grpId="0"/>
      <p:bldP spid="48" grpId="0"/>
      <p:bldP spid="4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Pop operation </a:t>
            </a:r>
            <a:endParaRPr lang="en-PH" dirty="0">
              <a:solidFill>
                <a:srgbClr val="00B050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899B351-6E86-EC67-EA63-63884EB780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0448101" y="5335103"/>
            <a:ext cx="545921" cy="545921"/>
          </a:xfrm>
          <a:prstGeom prst="rect">
            <a:avLst/>
          </a:prstGeom>
        </p:spPr>
      </p:pic>
      <p:pic>
        <p:nvPicPr>
          <p:cNvPr id="17" name="Picture 16" descr="A picture containing shirt&#10;&#10;Description automatically generated">
            <a:extLst>
              <a:ext uri="{FF2B5EF4-FFF2-40B4-BE49-F238E27FC236}">
                <a16:creationId xmlns:a16="http://schemas.microsoft.com/office/drawing/2014/main" id="{CBC0D990-F61C-886D-0174-0C9734DFFE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10448100" y="4758975"/>
            <a:ext cx="545921" cy="539180"/>
          </a:xfrm>
          <a:prstGeom prst="rect">
            <a:avLst/>
          </a:prstGeom>
        </p:spPr>
      </p:pic>
      <p:pic>
        <p:nvPicPr>
          <p:cNvPr id="24" name="Picture 23" descr="Diagram&#10;&#10;Description automatically generated">
            <a:extLst>
              <a:ext uri="{FF2B5EF4-FFF2-40B4-BE49-F238E27FC236}">
                <a16:creationId xmlns:a16="http://schemas.microsoft.com/office/drawing/2014/main" id="{E7805405-62A9-D8B6-F101-E4F92391F41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10485466" y="3532910"/>
            <a:ext cx="500655" cy="545921"/>
          </a:xfrm>
          <a:prstGeom prst="rect">
            <a:avLst/>
          </a:prstGeom>
        </p:spPr>
      </p:pic>
      <p:pic>
        <p:nvPicPr>
          <p:cNvPr id="26" name="Picture 25" descr="Diagram&#10;&#10;Description automatically generated with low confidence">
            <a:extLst>
              <a:ext uri="{FF2B5EF4-FFF2-40B4-BE49-F238E27FC236}">
                <a16:creationId xmlns:a16="http://schemas.microsoft.com/office/drawing/2014/main" id="{224C7777-5A04-AE76-6E42-09F1556BA93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10448100" y="4152940"/>
            <a:ext cx="545921" cy="545921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749BDAF-05AD-202B-3586-980967612D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8972999" y="1474124"/>
            <a:ext cx="545921" cy="545921"/>
          </a:xfrm>
          <a:prstGeom prst="rect">
            <a:avLst/>
          </a:prstGeom>
        </p:spPr>
      </p:pic>
      <p:pic>
        <p:nvPicPr>
          <p:cNvPr id="28" name="Picture 27" descr="A picture containing shirt&#10;&#10;Description automatically generated">
            <a:extLst>
              <a:ext uri="{FF2B5EF4-FFF2-40B4-BE49-F238E27FC236}">
                <a16:creationId xmlns:a16="http://schemas.microsoft.com/office/drawing/2014/main" id="{6BE3D923-EBC4-EEEF-2D1F-D1409C2B1B2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6912419" y="1474124"/>
            <a:ext cx="545921" cy="539180"/>
          </a:xfrm>
          <a:prstGeom prst="rect">
            <a:avLst/>
          </a:prstGeom>
        </p:spPr>
      </p:pic>
      <p:pic>
        <p:nvPicPr>
          <p:cNvPr id="29" name="Picture 28" descr="Diagram&#10;&#10;Description automatically generated with low confidence">
            <a:extLst>
              <a:ext uri="{FF2B5EF4-FFF2-40B4-BE49-F238E27FC236}">
                <a16:creationId xmlns:a16="http://schemas.microsoft.com/office/drawing/2014/main" id="{F0AA8856-CBD9-9170-31D3-E789AC8FE01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4926553" y="1415040"/>
            <a:ext cx="545921" cy="545921"/>
          </a:xfrm>
          <a:prstGeom prst="rect">
            <a:avLst/>
          </a:prstGeom>
        </p:spPr>
      </p:pic>
      <p:pic>
        <p:nvPicPr>
          <p:cNvPr id="30" name="Picture 29" descr="Diagram&#10;&#10;Description automatically generated">
            <a:extLst>
              <a:ext uri="{FF2B5EF4-FFF2-40B4-BE49-F238E27FC236}">
                <a16:creationId xmlns:a16="http://schemas.microsoft.com/office/drawing/2014/main" id="{7FD09284-0307-0253-E160-5FB1B77DF8F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2865973" y="1415041"/>
            <a:ext cx="500655" cy="545921"/>
          </a:xfrm>
          <a:prstGeom prst="rect">
            <a:avLst/>
          </a:prstGeom>
        </p:spPr>
      </p:pic>
      <p:graphicFrame>
        <p:nvGraphicFramePr>
          <p:cNvPr id="31" name="Table 31">
            <a:extLst>
              <a:ext uri="{FF2B5EF4-FFF2-40B4-BE49-F238E27FC236}">
                <a16:creationId xmlns:a16="http://schemas.microsoft.com/office/drawing/2014/main" id="{3EDA3525-D1AC-4B39-4628-DE727256DA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293459"/>
              </p:ext>
            </p:extLst>
          </p:nvPr>
        </p:nvGraphicFramePr>
        <p:xfrm>
          <a:off x="8205058" y="3532910"/>
          <a:ext cx="2037080" cy="23481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7080">
                  <a:extLst>
                    <a:ext uri="{9D8B030D-6E8A-4147-A177-3AD203B41FA5}">
                      <a16:colId xmlns:a16="http://schemas.microsoft.com/office/drawing/2014/main" val="1867406527"/>
                    </a:ext>
                  </a:extLst>
                </a:gridCol>
              </a:tblGrid>
              <a:tr h="587029"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7862470"/>
                  </a:ext>
                </a:extLst>
              </a:tr>
              <a:tr h="587029"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9772172"/>
                  </a:ext>
                </a:extLst>
              </a:tr>
              <a:tr h="587029"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2862954"/>
                  </a:ext>
                </a:extLst>
              </a:tr>
              <a:tr h="587029"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6599522"/>
                  </a:ext>
                </a:extLst>
              </a:tr>
            </a:tbl>
          </a:graphicData>
        </a:graphic>
      </p:graphicFrame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A84C66C8-AEF7-9E65-D809-9BBBD7432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8912808"/>
              </p:ext>
            </p:extLst>
          </p:nvPr>
        </p:nvGraphicFramePr>
        <p:xfrm>
          <a:off x="2346541" y="2148494"/>
          <a:ext cx="153952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9760">
                  <a:extLst>
                    <a:ext uri="{9D8B030D-6E8A-4147-A177-3AD203B41FA5}">
                      <a16:colId xmlns:a16="http://schemas.microsoft.com/office/drawing/2014/main" val="801851880"/>
                    </a:ext>
                  </a:extLst>
                </a:gridCol>
                <a:gridCol w="769760">
                  <a:extLst>
                    <a:ext uri="{9D8B030D-6E8A-4147-A177-3AD203B41FA5}">
                      <a16:colId xmlns:a16="http://schemas.microsoft.com/office/drawing/2014/main" val="2556904316"/>
                    </a:ext>
                  </a:extLst>
                </a:gridCol>
              </a:tblGrid>
              <a:tr h="217459">
                <a:tc>
                  <a:txBody>
                    <a:bodyPr/>
                    <a:lstStyle/>
                    <a:p>
                      <a:r>
                        <a:rPr lang="en-PH" sz="1500" dirty="0">
                          <a:solidFill>
                            <a:srgbClr val="00B050"/>
                          </a:solidFill>
                        </a:rPr>
                        <a:t>Green Shirt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2822919"/>
                  </a:ext>
                </a:extLst>
              </a:tr>
            </a:tbl>
          </a:graphicData>
        </a:graphic>
      </p:graphicFrame>
      <p:graphicFrame>
        <p:nvGraphicFramePr>
          <p:cNvPr id="22" name="Table 4">
            <a:extLst>
              <a:ext uri="{FF2B5EF4-FFF2-40B4-BE49-F238E27FC236}">
                <a16:creationId xmlns:a16="http://schemas.microsoft.com/office/drawing/2014/main" id="{0FB7467F-E8AC-0896-84EB-FD09BEB7BE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2101926"/>
              </p:ext>
            </p:extLst>
          </p:nvPr>
        </p:nvGraphicFramePr>
        <p:xfrm>
          <a:off x="4429754" y="2141279"/>
          <a:ext cx="153952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9760">
                  <a:extLst>
                    <a:ext uri="{9D8B030D-6E8A-4147-A177-3AD203B41FA5}">
                      <a16:colId xmlns:a16="http://schemas.microsoft.com/office/drawing/2014/main" val="801851880"/>
                    </a:ext>
                  </a:extLst>
                </a:gridCol>
                <a:gridCol w="769760">
                  <a:extLst>
                    <a:ext uri="{9D8B030D-6E8A-4147-A177-3AD203B41FA5}">
                      <a16:colId xmlns:a16="http://schemas.microsoft.com/office/drawing/2014/main" val="2556904316"/>
                    </a:ext>
                  </a:extLst>
                </a:gridCol>
              </a:tblGrid>
              <a:tr h="217459">
                <a:tc>
                  <a:txBody>
                    <a:bodyPr/>
                    <a:lstStyle/>
                    <a:p>
                      <a:r>
                        <a:rPr lang="en-PH" sz="1500" dirty="0">
                          <a:solidFill>
                            <a:srgbClr val="00B050"/>
                          </a:solidFill>
                        </a:rPr>
                        <a:t>Yellow Shirt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2822919"/>
                  </a:ext>
                </a:extLst>
              </a:tr>
            </a:tbl>
          </a:graphicData>
        </a:graphic>
      </p:graphicFrame>
      <p:graphicFrame>
        <p:nvGraphicFramePr>
          <p:cNvPr id="23" name="Table 4">
            <a:extLst>
              <a:ext uri="{FF2B5EF4-FFF2-40B4-BE49-F238E27FC236}">
                <a16:creationId xmlns:a16="http://schemas.microsoft.com/office/drawing/2014/main" id="{E9FF371B-159F-2D24-F33E-A5B5CB62C6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3870702"/>
              </p:ext>
            </p:extLst>
          </p:nvPr>
        </p:nvGraphicFramePr>
        <p:xfrm>
          <a:off x="6415620" y="2148494"/>
          <a:ext cx="153952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9760">
                  <a:extLst>
                    <a:ext uri="{9D8B030D-6E8A-4147-A177-3AD203B41FA5}">
                      <a16:colId xmlns:a16="http://schemas.microsoft.com/office/drawing/2014/main" val="801851880"/>
                    </a:ext>
                  </a:extLst>
                </a:gridCol>
                <a:gridCol w="769760">
                  <a:extLst>
                    <a:ext uri="{9D8B030D-6E8A-4147-A177-3AD203B41FA5}">
                      <a16:colId xmlns:a16="http://schemas.microsoft.com/office/drawing/2014/main" val="2556904316"/>
                    </a:ext>
                  </a:extLst>
                </a:gridCol>
              </a:tblGrid>
              <a:tr h="217459">
                <a:tc>
                  <a:txBody>
                    <a:bodyPr/>
                    <a:lstStyle/>
                    <a:p>
                      <a:r>
                        <a:rPr lang="en-PH" sz="1500" dirty="0">
                          <a:solidFill>
                            <a:srgbClr val="00B050"/>
                          </a:solidFill>
                        </a:rPr>
                        <a:t>Red Shirt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2822919"/>
                  </a:ext>
                </a:extLst>
              </a:tr>
            </a:tbl>
          </a:graphicData>
        </a:graphic>
      </p:graphicFrame>
      <p:graphicFrame>
        <p:nvGraphicFramePr>
          <p:cNvPr id="25" name="Table 4">
            <a:extLst>
              <a:ext uri="{FF2B5EF4-FFF2-40B4-BE49-F238E27FC236}">
                <a16:creationId xmlns:a16="http://schemas.microsoft.com/office/drawing/2014/main" id="{64EBD3FC-E85D-C692-E73B-B50C2A8668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7441471"/>
              </p:ext>
            </p:extLst>
          </p:nvPr>
        </p:nvGraphicFramePr>
        <p:xfrm>
          <a:off x="8476200" y="2149304"/>
          <a:ext cx="153952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9760">
                  <a:extLst>
                    <a:ext uri="{9D8B030D-6E8A-4147-A177-3AD203B41FA5}">
                      <a16:colId xmlns:a16="http://schemas.microsoft.com/office/drawing/2014/main" val="801851880"/>
                    </a:ext>
                  </a:extLst>
                </a:gridCol>
                <a:gridCol w="769760">
                  <a:extLst>
                    <a:ext uri="{9D8B030D-6E8A-4147-A177-3AD203B41FA5}">
                      <a16:colId xmlns:a16="http://schemas.microsoft.com/office/drawing/2014/main" val="2556904316"/>
                    </a:ext>
                  </a:extLst>
                </a:gridCol>
              </a:tblGrid>
              <a:tr h="217459">
                <a:tc>
                  <a:txBody>
                    <a:bodyPr/>
                    <a:lstStyle/>
                    <a:p>
                      <a:r>
                        <a:rPr lang="en-PH" sz="1500" dirty="0">
                          <a:solidFill>
                            <a:srgbClr val="00B050"/>
                          </a:solidFill>
                        </a:rPr>
                        <a:t>Blue Shirt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28229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F71AE15-D087-8D14-DE62-F704602A8104}"/>
              </a:ext>
            </a:extLst>
          </p:cNvPr>
          <p:cNvCxnSpPr>
            <a:cxnSpLocks/>
            <a:stCxn id="3" idx="3"/>
            <a:endCxn id="22" idx="1"/>
          </p:cNvCxnSpPr>
          <p:nvPr/>
        </p:nvCxnSpPr>
        <p:spPr>
          <a:xfrm flipV="1">
            <a:off x="3886061" y="2415599"/>
            <a:ext cx="543693" cy="7215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838C8F8-56D6-9C89-F199-F93CC33765C4}"/>
              </a:ext>
            </a:extLst>
          </p:cNvPr>
          <p:cNvCxnSpPr>
            <a:cxnSpLocks/>
            <a:stCxn id="22" idx="3"/>
            <a:endCxn id="23" idx="1"/>
          </p:cNvCxnSpPr>
          <p:nvPr/>
        </p:nvCxnSpPr>
        <p:spPr>
          <a:xfrm>
            <a:off x="5969274" y="2415599"/>
            <a:ext cx="446346" cy="7215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DBCC66C-24B5-8A49-5CBF-3289A8C76E8A}"/>
              </a:ext>
            </a:extLst>
          </p:cNvPr>
          <p:cNvCxnSpPr>
            <a:cxnSpLocks/>
            <a:stCxn id="23" idx="3"/>
            <a:endCxn id="25" idx="1"/>
          </p:cNvCxnSpPr>
          <p:nvPr/>
        </p:nvCxnSpPr>
        <p:spPr>
          <a:xfrm>
            <a:off x="7955140" y="2422814"/>
            <a:ext cx="521060" cy="81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4034F9C7-5E37-D908-8E3D-FE474A6AF8C4}"/>
              </a:ext>
            </a:extLst>
          </p:cNvPr>
          <p:cNvSpPr txBox="1"/>
          <p:nvPr/>
        </p:nvSpPr>
        <p:spPr>
          <a:xfrm>
            <a:off x="8527521" y="3660138"/>
            <a:ext cx="1417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b="1" dirty="0">
                <a:solidFill>
                  <a:srgbClr val="00B050"/>
                </a:solidFill>
              </a:rPr>
              <a:t>Green Shirt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FCC363A-EDFB-09A1-D35C-BFD5464DD8B3}"/>
              </a:ext>
            </a:extLst>
          </p:cNvPr>
          <p:cNvSpPr txBox="1"/>
          <p:nvPr/>
        </p:nvSpPr>
        <p:spPr>
          <a:xfrm>
            <a:off x="8517354" y="4254972"/>
            <a:ext cx="1417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b="1" dirty="0">
                <a:solidFill>
                  <a:srgbClr val="00B050"/>
                </a:solidFill>
              </a:rPr>
              <a:t>Yellow Shirt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FEBFB3C-FC6A-99E9-5C52-7C3B2A4A98F4}"/>
              </a:ext>
            </a:extLst>
          </p:cNvPr>
          <p:cNvSpPr txBox="1"/>
          <p:nvPr/>
        </p:nvSpPr>
        <p:spPr>
          <a:xfrm>
            <a:off x="8645748" y="4785180"/>
            <a:ext cx="1155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b="1" dirty="0">
                <a:solidFill>
                  <a:srgbClr val="00B050"/>
                </a:solidFill>
              </a:rPr>
              <a:t>Red Shirt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0DD7966-208F-BD20-956B-832E00FB0F74}"/>
              </a:ext>
            </a:extLst>
          </p:cNvPr>
          <p:cNvSpPr txBox="1"/>
          <p:nvPr/>
        </p:nvSpPr>
        <p:spPr>
          <a:xfrm>
            <a:off x="8645748" y="5372786"/>
            <a:ext cx="1155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b="1" dirty="0">
                <a:solidFill>
                  <a:srgbClr val="00B050"/>
                </a:solidFill>
              </a:rPr>
              <a:t>Blue Shirt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59AC9BE-6674-2945-3299-93BAB6E78ADF}"/>
              </a:ext>
            </a:extLst>
          </p:cNvPr>
          <p:cNvSpPr txBox="1"/>
          <p:nvPr/>
        </p:nvSpPr>
        <p:spPr>
          <a:xfrm>
            <a:off x="1063535" y="3694784"/>
            <a:ext cx="1735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b="1" dirty="0">
                <a:solidFill>
                  <a:srgbClr val="00B050"/>
                </a:solidFill>
              </a:rPr>
              <a:t>Pop Sequence: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B37E351-4036-A395-C858-CACAEDBDD772}"/>
              </a:ext>
            </a:extLst>
          </p:cNvPr>
          <p:cNvSpPr txBox="1"/>
          <p:nvPr/>
        </p:nvSpPr>
        <p:spPr>
          <a:xfrm>
            <a:off x="1063532" y="4070306"/>
            <a:ext cx="2481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 err="1">
                <a:solidFill>
                  <a:srgbClr val="00B050"/>
                </a:solidFill>
                <a:latin typeface="Consolas" panose="020B0609020204030204" pitchFamily="49" charset="0"/>
              </a:rPr>
              <a:t>stack.pop</a:t>
            </a:r>
            <a:r>
              <a:rPr lang="en-PH" dirty="0">
                <a:solidFill>
                  <a:srgbClr val="00B050"/>
                </a:solidFill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EFDA5C1-1A72-E63A-6AEF-1CE9C596DE65}"/>
              </a:ext>
            </a:extLst>
          </p:cNvPr>
          <p:cNvSpPr txBox="1"/>
          <p:nvPr/>
        </p:nvSpPr>
        <p:spPr>
          <a:xfrm>
            <a:off x="1063533" y="4430443"/>
            <a:ext cx="2481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 err="1">
                <a:solidFill>
                  <a:srgbClr val="00B050"/>
                </a:solidFill>
                <a:latin typeface="Consolas" panose="020B0609020204030204" pitchFamily="49" charset="0"/>
              </a:rPr>
              <a:t>stack.pop</a:t>
            </a:r>
            <a:r>
              <a:rPr lang="en-PH" dirty="0">
                <a:solidFill>
                  <a:srgbClr val="00B050"/>
                </a:solidFill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B41BB8E-2D80-CD09-AD4C-E4517CD1B97A}"/>
              </a:ext>
            </a:extLst>
          </p:cNvPr>
          <p:cNvSpPr txBox="1"/>
          <p:nvPr/>
        </p:nvSpPr>
        <p:spPr>
          <a:xfrm>
            <a:off x="1063532" y="4794906"/>
            <a:ext cx="2481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 err="1">
                <a:solidFill>
                  <a:srgbClr val="00B050"/>
                </a:solidFill>
                <a:latin typeface="Consolas" panose="020B0609020204030204" pitchFamily="49" charset="0"/>
              </a:rPr>
              <a:t>stack.pop</a:t>
            </a:r>
            <a:r>
              <a:rPr lang="en-PH" dirty="0">
                <a:solidFill>
                  <a:srgbClr val="00B050"/>
                </a:solidFill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F07BF4F-26D5-52BA-6477-DB1CC79F5B23}"/>
              </a:ext>
            </a:extLst>
          </p:cNvPr>
          <p:cNvSpPr txBox="1"/>
          <p:nvPr/>
        </p:nvSpPr>
        <p:spPr>
          <a:xfrm>
            <a:off x="1063532" y="5151337"/>
            <a:ext cx="2481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 err="1">
                <a:solidFill>
                  <a:srgbClr val="00B050"/>
                </a:solidFill>
                <a:latin typeface="Consolas" panose="020B0609020204030204" pitchFamily="49" charset="0"/>
              </a:rPr>
              <a:t>stack.pop</a:t>
            </a:r>
            <a:r>
              <a:rPr lang="en-PH" dirty="0">
                <a:solidFill>
                  <a:srgbClr val="00B050"/>
                </a:solidFill>
                <a:latin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477574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8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0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7" grpId="0"/>
      <p:bldP spid="48" grpId="0"/>
      <p:bldP spid="49" grpId="0"/>
      <p:bldP spid="42" grpId="0"/>
      <p:bldP spid="43" grpId="0"/>
      <p:bldP spid="44" grpId="0"/>
      <p:bldP spid="4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188BDCA587B344BBA6CB1A93FAE6998" ma:contentTypeVersion="2" ma:contentTypeDescription="Create a new document." ma:contentTypeScope="" ma:versionID="7a8e4b6720badb2566a0cfeddfaf2856">
  <xsd:schema xmlns:xsd="http://www.w3.org/2001/XMLSchema" xmlns:xs="http://www.w3.org/2001/XMLSchema" xmlns:p="http://schemas.microsoft.com/office/2006/metadata/properties" xmlns:ns2="ba111d12-426d-4af0-bcb6-460e36974645" targetNamespace="http://schemas.microsoft.com/office/2006/metadata/properties" ma:root="true" ma:fieldsID="989b05398519136c88ba0a8d54e3c3da" ns2:_="">
    <xsd:import namespace="ba111d12-426d-4af0-bcb6-460e3697464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111d12-426d-4af0-bcb6-460e369746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6C2DE78-7F75-46EF-BA1C-8DDDE33EBFA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a111d12-426d-4af0-bcb6-460e3697464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57C6131-C561-4201-AE06-D21CDE528BF4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C598EE6F-E26B-42BB-A8C4-ECA40997D30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894</TotalTime>
  <Words>1117</Words>
  <Application>Microsoft Office PowerPoint</Application>
  <PresentationFormat>Widescreen</PresentationFormat>
  <Paragraphs>275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Charter</vt:lpstr>
      <vt:lpstr>Consolas</vt:lpstr>
      <vt:lpstr>Wingdings</vt:lpstr>
      <vt:lpstr>Office Theme</vt:lpstr>
      <vt:lpstr>Stack</vt:lpstr>
      <vt:lpstr>Push operation </vt:lpstr>
      <vt:lpstr>Pop operation</vt:lpstr>
      <vt:lpstr>Types of Stack</vt:lpstr>
      <vt:lpstr>Types of Stack</vt:lpstr>
      <vt:lpstr>Types of Stack</vt:lpstr>
      <vt:lpstr>Types of Stack</vt:lpstr>
      <vt:lpstr>Types of Stack</vt:lpstr>
      <vt:lpstr>Stack implementation using Arrays</vt:lpstr>
      <vt:lpstr>Push operation </vt:lpstr>
      <vt:lpstr>Pop operation</vt:lpstr>
      <vt:lpstr>Stack Implementation using Linked Lists</vt:lpstr>
      <vt:lpstr>Push operation </vt:lpstr>
      <vt:lpstr>Pop operation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SLY Ponio</dc:creator>
  <cp:lastModifiedBy>SLY Ponio</cp:lastModifiedBy>
  <cp:revision>63</cp:revision>
  <dcterms:created xsi:type="dcterms:W3CDTF">2022-05-11T03:47:05Z</dcterms:created>
  <dcterms:modified xsi:type="dcterms:W3CDTF">2026-05-12T01:04:53Z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0x0101007188BDCA587B344BBA6CB1A93FAE6998</vt:lpwstr>
  </property>
</Properties>
</file>